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18288000" cy="10287000"/>
  <p:notesSz cx="6858000" cy="9144000"/>
  <p:embeddedFontLst>
    <p:embeddedFont>
      <p:font typeface="Alegreya Bold" panose="020B0604020202020204" charset="0"/>
      <p:regular r:id="rId22"/>
    </p:embeddedFont>
    <p:embeddedFont>
      <p:font typeface="Alegreya Bold Italics" panose="020B0604020202020204" charset="0"/>
      <p:regular r:id="rId23"/>
    </p:embeddedFont>
    <p:embeddedFont>
      <p:font typeface="Bobby Jone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5328" autoAdjust="0"/>
  </p:normalViewPr>
  <p:slideViewPr>
    <p:cSldViewPr>
      <p:cViewPr varScale="1">
        <p:scale>
          <a:sx n="34" d="100"/>
          <a:sy n="34" d="100"/>
        </p:scale>
        <p:origin x="118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我們這個專案的靈感是從現在很常出現的互動式展覽得到的。現在有越來越多展覽透過sensor或攝影機，讓觀眾來跟畫面互動，也讓體驗變得更有參與性。</a:t>
            </a:r>
          </a:p>
          <a:p>
            <a:r>
              <a:rPr lang="en-US"/>
              <a:t>我們就在思考，如果這樣的互動可以配合上這次的風格轉換的專案，應該會蠻有趣的。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這個專案的核心概念分兩部分，第一部分是希望能夠將畫面即時轉換成不同藝術風格的視覺效果。</a:t>
            </a:r>
          </a:p>
          <a:p>
            <a:endParaRPr lang="en-US"/>
          </a:p>
          <a:p>
            <a:r>
              <a:rPr lang="en-US"/>
              <a:t>使用前使用者可以上傳自己想要的風格圖片，然後系統再將攝影機的視訊畫面，去結合此照片的特徵，去做實時影像的風格轉換。</a:t>
            </a:r>
          </a:p>
          <a:p>
            <a:endParaRPr lang="en-US"/>
          </a:p>
          <a:p>
            <a:r>
              <a:rPr lang="en-US"/>
              <a:t>跟過去許多風格轉換模型不太一樣的是，此專案並不是針對某幾種固定風格去做訓練，所以他是可以針對使用者當下自己給的風格圖片去做即時轉換，簡單來說就是，每次的風格都可以是全新的、客製化的。</a:t>
            </a:r>
          </a:p>
          <a:p>
            <a:r>
              <a:rPr lang="en-US"/>
              <a:t>這樣的設計讓系統更有彈性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專案第二部分的核心概念是我們加入了手勢辨識的功能。使用者只需要比出特定的手勢，就可以觸發特定功能。這樣的設計變成不需要實際操作我們的ui介面，只用手勢就能操作。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接下來實際講我們是怎麼做的，我們模型是參考一個既有的專案去完成的，這個專案提供了一個streamlit的介面去實現像是相片、影片、即時視訊畫面的風格轉換，但之後其實我們根據此專案做蠻大的修改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在模型端的調整上我們主要針對三個方向去優化</a:t>
            </a:r>
            <a:r>
              <a:rPr lang="en-US" dirty="0"/>
              <a:t>。</a:t>
            </a:r>
          </a:p>
          <a:p>
            <a:r>
              <a:rPr lang="en-US" dirty="0" err="1"/>
              <a:t>首先是功能上的簡化。因為我們最後是要部署在</a:t>
            </a:r>
            <a:r>
              <a:rPr lang="en-US" dirty="0"/>
              <a:t> Jetson Xavier 上的，所以模型越輕量越好。原本的專案功能其實很完整，但對我們的應用場景來說並不需要那麼多，我們就針對即時風格轉換這個需求，將原本的程式碼做了大量精簡，保留最核心的部分。</a:t>
            </a:r>
          </a:p>
          <a:p>
            <a:endParaRPr lang="en-US" dirty="0"/>
          </a:p>
          <a:p>
            <a:r>
              <a:rPr lang="en-US" dirty="0"/>
              <a:t>再來我們也加入了多張風格圖輸入的機制。原本的系統每次只能選一張風格圖片，想換風格就要手動重新上傳，這對我們來說不夠即時也很麻煩，所以我們設計了風格圖的多張上傳機制，配合上之後設計的手勢互動也可以達到更方便的使用。</a:t>
            </a:r>
          </a:p>
          <a:p>
            <a:endParaRPr lang="en-US" dirty="0"/>
          </a:p>
          <a:p>
            <a:r>
              <a:rPr lang="en-US" dirty="0" err="1"/>
              <a:t>最後讓使用者介面有即時狀態的顯示，包含目前的風格、系統顯示</a:t>
            </a:r>
            <a:r>
              <a:rPr lang="en-US" dirty="0"/>
              <a:t>， FPS </a:t>
            </a:r>
            <a:r>
              <a:rPr lang="en-US" dirty="0" err="1"/>
              <a:t>等等。讓使用者能夠得知當前的系統狀況，也方便我們後續在效能優化有個依據</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在這個專案裡，我們的手勢控制功能是建立在 Google 提供的 MediaPipe 框架之上。MediaPipe 本身是一套針對影像處理與感知任務開發的開源工具，我們使用它的 Hands 模組來偵測使用者的雙手，並取得每隻手 21 個關鍵點的座標，來去實現手勢偵測。</a:t>
            </a:r>
          </a:p>
          <a:p>
            <a:endParaRPr lang="en-US"/>
          </a:p>
          <a:p>
            <a:r>
              <a:rPr lang="en-US"/>
              <a:t>我們設計的第一個手勢是張開手掌，用來切換風格圖片。這個功能的判斷邏輯是去分析所有手指的指尖位置是不是都高於它們的指根。具體來說，如果每一根手指的指尖都在對應關節之上，我們就會認定使用者是張開手的狀態。</a:t>
            </a:r>
          </a:p>
          <a:p>
            <a:endParaRPr lang="en-US"/>
          </a:p>
          <a:p>
            <a:r>
              <a:rPr lang="en-US"/>
              <a:t>第二個手勢是剪刀手勢，也就是我們熟悉的食指和中指伸出，其他手指收起來的形狀。在程式裡的判斷方式是先確認食指與中指的指尖在對應關節之上；同時也檢查其餘的指尖是否低於關節，代表它們是彎曲的。除此之外，未來若加入其他手勢怕搞混，就是要求食指與中指之間要有一定的距離。因為有些情況下兩根手指會併在一起，容易被誤判成其他手勢，所以我們會算這兩個指尖之間的距離，並拿來和手掌的寬度做比例比較，只有在這個比例夠大時才會認定為真正的剪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最後就是我們的gui介面，我們是用pyqt5做的，剛剛是說基本上除了上傳之外，這些功能都能用手勢去操作，不過為了避免偵測不良，我們還是有設計按鈕可以去按</a:t>
            </a:r>
          </a:p>
          <a:p>
            <a:r>
              <a:rPr lang="en-US"/>
              <a:t>詳細等等demo的時候在操作給各位看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290763" y="512763"/>
            <a:ext cx="4562475" cy="25669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202207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目標是要輕量化放在邊緣裝置，關心模型的大小</a:t>
            </a:r>
          </a:p>
          <a:p>
            <a:endParaRPr lang="en-US"/>
          </a:p>
          <a:p>
            <a:r>
              <a:rPr lang="en-US"/>
              <a:t>在這次專案測試tflite這個模型縮小技術</a:t>
            </a:r>
          </a:p>
          <a:p>
            <a:endParaRPr lang="en-US"/>
          </a:p>
          <a:p>
            <a:r>
              <a:rPr lang="en-US"/>
              <a:t>【介紹tflite】</a:t>
            </a:r>
          </a:p>
          <a:p>
            <a:r>
              <a:rPr lang="en-US"/>
              <a:t>原本的訓練模型使用Tensorflow，</a:t>
            </a:r>
          </a:p>
          <a:p>
            <a:r>
              <a:rPr lang="en-US"/>
              <a:t>tflite可以把TensorFlow 模型轉換為高效的 FlatBuffer 格式，支援量化（如 float16、int8）以降低模型大小與記憶體需求</a:t>
            </a:r>
          </a:p>
          <a:p>
            <a:endParaRPr lang="en-US"/>
          </a:p>
          <a:p>
            <a:r>
              <a:rPr lang="en-US"/>
              <a:t>以結論來說int8, float16我們都有成功部署上xavier，但以效果來說int8非常糟（轉換後style的照片後殘影在畫面上）</a:t>
            </a:r>
          </a:p>
          <a:p>
            <a:r>
              <a:rPr lang="en-US"/>
              <a:t>所以以下是用float16部署的狀況：</a:t>
            </a:r>
          </a:p>
          <a:p>
            <a:endParaRPr lang="en-US"/>
          </a:p>
          <a:p>
            <a:endParaRPr lang="en-US"/>
          </a:p>
          <a:p>
            <a:r>
              <a:rPr lang="en-US"/>
              <a:t>【Faster Program Startup Time】</a:t>
            </a:r>
          </a:p>
          <a:p>
            <a:endParaRPr lang="en-US"/>
          </a:p>
          <a:p>
            <a:r>
              <a:rPr lang="en-US"/>
              <a:t>改成tflite最大的好處是原本在使用GUI開啟鏡頭那段時間大幅縮減，原因如下</a:t>
            </a:r>
          </a:p>
          <a:p>
            <a:endParaRPr lang="en-US"/>
          </a:p>
          <a:p>
            <a:r>
              <a:rPr lang="en-US"/>
              <a:t>一般的模型在每次推論前都會需要經過很多步驟，包含</a:t>
            </a:r>
          </a:p>
          <a:p>
            <a:r>
              <a:rPr lang="en-US"/>
              <a:t>-解析（儲存的模型結構還原成記憶體中的物件）</a:t>
            </a:r>
          </a:p>
          <a:p>
            <a:r>
              <a:rPr lang="en-US"/>
              <a:t>-建立計算圖</a:t>
            </a:r>
          </a:p>
          <a:p>
            <a:r>
              <a:rPr lang="en-US"/>
              <a:t>-初始化 weights 到 GPU / CPU 記憶體</a:t>
            </a:r>
          </a:p>
          <a:p>
            <a:endParaRPr lang="en-US"/>
          </a:p>
          <a:p>
            <a:r>
              <a:rPr lang="en-US"/>
              <a:t>flatbuffer</a:t>
            </a:r>
          </a:p>
          <a:p>
            <a:r>
              <a:rPr lang="en-US"/>
              <a:t>不需要經過「解析、初始化、建構圖」步驟，模型可以直接對應到記憶體使用，即時推論</a:t>
            </a:r>
          </a:p>
          <a:p>
            <a:r>
              <a:rPr lang="en-US"/>
              <a:t>儲存格式是二進位格式，沒有多餘的字串或標籤</a:t>
            </a:r>
          </a:p>
          <a:p>
            <a:endParaRPr lang="en-US"/>
          </a:p>
          <a:p>
            <a:r>
              <a:rPr lang="en-US"/>
              <a:t>量化成fp16，模型小load model時間變小</a:t>
            </a:r>
          </a:p>
          <a:p>
            <a:endParaRPr lang="en-US"/>
          </a:p>
          <a:p>
            <a:r>
              <a:rPr lang="en-US"/>
              <a:t>【Decreased FPS Due to Increased Latency】</a:t>
            </a:r>
          </a:p>
          <a:p>
            <a:endParaRPr lang="en-US"/>
          </a:p>
          <a:p>
            <a:r>
              <a:rPr lang="en-US"/>
              <a:t>使用tflite GPU delegate來讓模型在GPU上跑，但發現fps明顯下滑</a:t>
            </a:r>
          </a:p>
          <a:p>
            <a:endParaRPr lang="en-US"/>
          </a:p>
          <a:p>
            <a:r>
              <a:rPr lang="en-US"/>
              <a:t>【後來才發現的問題解決方法】</a:t>
            </a:r>
          </a:p>
          <a:p>
            <a:endParaRPr lang="en-US"/>
          </a:p>
          <a:p>
            <a:r>
              <a:rPr lang="en-US"/>
              <a:t>TFLite 本身非常依賴 CPU side 的預處理、資料設定與排程，如果沒有多執行緒支持，整體流程就會被單一 CPU 線程卡住</a:t>
            </a:r>
          </a:p>
          <a:p>
            <a:r>
              <a:rPr lang="en-US"/>
              <a:t>tflite.Interpreter的num_threads可以設成6（6核）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1.jpe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1761580" y="3027933"/>
            <a:ext cx="14764841" cy="2443719"/>
          </a:xfrm>
          <a:prstGeom prst="rect">
            <a:avLst/>
          </a:prstGeom>
        </p:spPr>
        <p:txBody>
          <a:bodyPr lIns="0" tIns="0" rIns="0" bIns="0" rtlCol="0" anchor="t">
            <a:spAutoFit/>
          </a:bodyPr>
          <a:lstStyle/>
          <a:p>
            <a:pPr algn="ctr">
              <a:lnSpc>
                <a:spcPts val="19653"/>
              </a:lnSpc>
            </a:pPr>
            <a:r>
              <a:rPr lang="en-US" sz="14038">
                <a:solidFill>
                  <a:srgbClr val="000000"/>
                </a:solidFill>
                <a:latin typeface="Bobby Jones"/>
                <a:ea typeface="Bobby Jones"/>
                <a:cs typeface="Bobby Jones"/>
                <a:sym typeface="Bobby Jones"/>
              </a:rPr>
              <a:t>Style transfer</a:t>
            </a:r>
          </a:p>
        </p:txBody>
      </p:sp>
      <p:sp>
        <p:nvSpPr>
          <p:cNvPr id="4" name="TextBox 4"/>
          <p:cNvSpPr txBox="1"/>
          <p:nvPr/>
        </p:nvSpPr>
        <p:spPr>
          <a:xfrm>
            <a:off x="2831326" y="5654893"/>
            <a:ext cx="12625348" cy="987804"/>
          </a:xfrm>
          <a:prstGeom prst="rect">
            <a:avLst/>
          </a:prstGeom>
        </p:spPr>
        <p:txBody>
          <a:bodyPr lIns="0" tIns="0" rIns="0" bIns="0" rtlCol="0" anchor="t">
            <a:spAutoFit/>
          </a:bodyPr>
          <a:lstStyle/>
          <a:p>
            <a:pPr algn="ctr">
              <a:lnSpc>
                <a:spcPts val="8029"/>
              </a:lnSpc>
            </a:pPr>
            <a:r>
              <a:rPr lang="en-US" sz="5735" b="1">
                <a:solidFill>
                  <a:srgbClr val="000000"/>
                </a:solidFill>
                <a:latin typeface="Alegreya Bold"/>
                <a:ea typeface="Alegreya Bold"/>
                <a:cs typeface="Alegreya Bold"/>
                <a:sym typeface="Alegreya Bold"/>
              </a:rPr>
              <a:t>Presented By : Group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sp>
        <p:nvSpPr>
          <p:cNvPr id="3" name="Freeform 3"/>
          <p:cNvSpPr/>
          <p:nvPr/>
        </p:nvSpPr>
        <p:spPr>
          <a:xfrm>
            <a:off x="2108644" y="3765818"/>
            <a:ext cx="6105179" cy="4505247"/>
          </a:xfrm>
          <a:custGeom>
            <a:avLst/>
            <a:gdLst/>
            <a:ahLst/>
            <a:cxnLst/>
            <a:rect l="l" t="t" r="r" b="b"/>
            <a:pathLst>
              <a:path w="6105179" h="4505247">
                <a:moveTo>
                  <a:pt x="0" y="0"/>
                </a:moveTo>
                <a:lnTo>
                  <a:pt x="6105179" y="0"/>
                </a:lnTo>
                <a:lnTo>
                  <a:pt x="6105179" y="4505248"/>
                </a:lnTo>
                <a:lnTo>
                  <a:pt x="0" y="4505248"/>
                </a:lnTo>
                <a:lnTo>
                  <a:pt x="0" y="0"/>
                </a:lnTo>
                <a:close/>
              </a:path>
            </a:pathLst>
          </a:custGeom>
          <a:blipFill>
            <a:blip r:embed="rId4"/>
            <a:stretch>
              <a:fillRect l="-19209" r="-12142"/>
            </a:stretch>
          </a:blipFill>
        </p:spPr>
        <p:txBody>
          <a:bodyPr/>
          <a:lstStyle/>
          <a:p>
            <a:endParaRPr lang="zh-TW" altLang="en-US"/>
          </a:p>
        </p:txBody>
      </p:sp>
      <p:sp>
        <p:nvSpPr>
          <p:cNvPr id="4" name="Freeform 4"/>
          <p:cNvSpPr/>
          <p:nvPr/>
        </p:nvSpPr>
        <p:spPr>
          <a:xfrm>
            <a:off x="10173491" y="3765818"/>
            <a:ext cx="6006997" cy="4505247"/>
          </a:xfrm>
          <a:custGeom>
            <a:avLst/>
            <a:gdLst/>
            <a:ahLst/>
            <a:cxnLst/>
            <a:rect l="l" t="t" r="r" b="b"/>
            <a:pathLst>
              <a:path w="6006997" h="4505247">
                <a:moveTo>
                  <a:pt x="0" y="0"/>
                </a:moveTo>
                <a:lnTo>
                  <a:pt x="6006997" y="0"/>
                </a:lnTo>
                <a:lnTo>
                  <a:pt x="6006997" y="4505248"/>
                </a:lnTo>
                <a:lnTo>
                  <a:pt x="0" y="4505248"/>
                </a:lnTo>
                <a:lnTo>
                  <a:pt x="0" y="0"/>
                </a:lnTo>
                <a:close/>
              </a:path>
            </a:pathLst>
          </a:custGeom>
          <a:blipFill>
            <a:blip r:embed="rId5"/>
            <a:stretch>
              <a:fillRect/>
            </a:stretch>
          </a:blipFill>
        </p:spPr>
        <p:txBody>
          <a:bodyPr/>
          <a:lstStyle/>
          <a:p>
            <a:endParaRPr lang="zh-TW" altLang="en-US"/>
          </a:p>
        </p:txBody>
      </p:sp>
      <p:sp>
        <p:nvSpPr>
          <p:cNvPr id="5" name="TextBox 5"/>
          <p:cNvSpPr txBox="1"/>
          <p:nvPr/>
        </p:nvSpPr>
        <p:spPr>
          <a:xfrm>
            <a:off x="3918390" y="857250"/>
            <a:ext cx="10451219"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Motivation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sp>
        <p:nvSpPr>
          <p:cNvPr id="3" name="Freeform 3"/>
          <p:cNvSpPr/>
          <p:nvPr/>
        </p:nvSpPr>
        <p:spPr>
          <a:xfrm>
            <a:off x="1311507" y="3646765"/>
            <a:ext cx="2993470" cy="2993470"/>
          </a:xfrm>
          <a:custGeom>
            <a:avLst/>
            <a:gdLst/>
            <a:ahLst/>
            <a:cxnLst/>
            <a:rect l="l" t="t" r="r" b="b"/>
            <a:pathLst>
              <a:path w="2993470" h="2993470">
                <a:moveTo>
                  <a:pt x="0" y="0"/>
                </a:moveTo>
                <a:lnTo>
                  <a:pt x="2993471" y="0"/>
                </a:lnTo>
                <a:lnTo>
                  <a:pt x="2993471" y="2993470"/>
                </a:lnTo>
                <a:lnTo>
                  <a:pt x="0" y="2993470"/>
                </a:lnTo>
                <a:lnTo>
                  <a:pt x="0" y="0"/>
                </a:lnTo>
                <a:close/>
              </a:path>
            </a:pathLst>
          </a:custGeom>
          <a:blipFill>
            <a:blip r:embed="rId4"/>
            <a:stretch>
              <a:fillRect/>
            </a:stretch>
          </a:blipFill>
        </p:spPr>
        <p:txBody>
          <a:bodyPr/>
          <a:lstStyle/>
          <a:p>
            <a:endParaRPr lang="zh-TW" altLang="en-US"/>
          </a:p>
        </p:txBody>
      </p:sp>
      <p:sp>
        <p:nvSpPr>
          <p:cNvPr id="4" name="Freeform 4"/>
          <p:cNvSpPr/>
          <p:nvPr/>
        </p:nvSpPr>
        <p:spPr>
          <a:xfrm>
            <a:off x="6971157" y="5853090"/>
            <a:ext cx="2421072" cy="1920717"/>
          </a:xfrm>
          <a:custGeom>
            <a:avLst/>
            <a:gdLst/>
            <a:ahLst/>
            <a:cxnLst/>
            <a:rect l="l" t="t" r="r" b="b"/>
            <a:pathLst>
              <a:path w="2421072" h="1920717">
                <a:moveTo>
                  <a:pt x="0" y="0"/>
                </a:moveTo>
                <a:lnTo>
                  <a:pt x="2421072" y="0"/>
                </a:lnTo>
                <a:lnTo>
                  <a:pt x="2421072" y="1920717"/>
                </a:lnTo>
                <a:lnTo>
                  <a:pt x="0" y="1920717"/>
                </a:lnTo>
                <a:lnTo>
                  <a:pt x="0" y="0"/>
                </a:lnTo>
                <a:close/>
              </a:path>
            </a:pathLst>
          </a:custGeom>
          <a:blipFill>
            <a:blip r:embed="rId5"/>
            <a:stretch>
              <a:fillRect/>
            </a:stretch>
          </a:blipFill>
        </p:spPr>
        <p:txBody>
          <a:bodyPr/>
          <a:lstStyle/>
          <a:p>
            <a:endParaRPr lang="zh-TW" altLang="en-US"/>
          </a:p>
        </p:txBody>
      </p:sp>
      <p:sp>
        <p:nvSpPr>
          <p:cNvPr id="5" name="Freeform 5"/>
          <p:cNvSpPr/>
          <p:nvPr/>
        </p:nvSpPr>
        <p:spPr>
          <a:xfrm>
            <a:off x="7251704" y="2844173"/>
            <a:ext cx="1859978" cy="2492754"/>
          </a:xfrm>
          <a:custGeom>
            <a:avLst/>
            <a:gdLst/>
            <a:ahLst/>
            <a:cxnLst/>
            <a:rect l="l" t="t" r="r" b="b"/>
            <a:pathLst>
              <a:path w="1859978" h="2492754">
                <a:moveTo>
                  <a:pt x="0" y="0"/>
                </a:moveTo>
                <a:lnTo>
                  <a:pt x="1859978" y="0"/>
                </a:lnTo>
                <a:lnTo>
                  <a:pt x="1859978" y="2492754"/>
                </a:lnTo>
                <a:lnTo>
                  <a:pt x="0" y="2492754"/>
                </a:lnTo>
                <a:lnTo>
                  <a:pt x="0" y="0"/>
                </a:lnTo>
                <a:close/>
              </a:path>
            </a:pathLst>
          </a:custGeom>
          <a:blipFill>
            <a:blip r:embed="rId6"/>
            <a:stretch>
              <a:fillRect/>
            </a:stretch>
          </a:blipFill>
        </p:spPr>
        <p:txBody>
          <a:bodyPr/>
          <a:lstStyle/>
          <a:p>
            <a:endParaRPr lang="zh-TW" altLang="en-US"/>
          </a:p>
        </p:txBody>
      </p:sp>
      <p:grpSp>
        <p:nvGrpSpPr>
          <p:cNvPr id="6" name="Group 6"/>
          <p:cNvGrpSpPr/>
          <p:nvPr/>
        </p:nvGrpSpPr>
        <p:grpSpPr>
          <a:xfrm>
            <a:off x="10116129" y="4875181"/>
            <a:ext cx="2187389" cy="1335480"/>
            <a:chOff x="0" y="0"/>
            <a:chExt cx="945559" cy="577298"/>
          </a:xfrm>
        </p:grpSpPr>
        <p:sp>
          <p:nvSpPr>
            <p:cNvPr id="7" name="Freeform 7"/>
            <p:cNvSpPr/>
            <p:nvPr/>
          </p:nvSpPr>
          <p:spPr>
            <a:xfrm>
              <a:off x="0" y="0"/>
              <a:ext cx="945559" cy="577298"/>
            </a:xfrm>
            <a:custGeom>
              <a:avLst/>
              <a:gdLst/>
              <a:ahLst/>
              <a:cxnLst/>
              <a:rect l="l" t="t" r="r" b="b"/>
              <a:pathLst>
                <a:path w="945559" h="577298">
                  <a:moveTo>
                    <a:pt x="945559" y="288649"/>
                  </a:moveTo>
                  <a:lnTo>
                    <a:pt x="539159" y="0"/>
                  </a:lnTo>
                  <a:lnTo>
                    <a:pt x="539159" y="203200"/>
                  </a:lnTo>
                  <a:lnTo>
                    <a:pt x="0" y="203200"/>
                  </a:lnTo>
                  <a:lnTo>
                    <a:pt x="0" y="374098"/>
                  </a:lnTo>
                  <a:lnTo>
                    <a:pt x="539159" y="374098"/>
                  </a:lnTo>
                  <a:lnTo>
                    <a:pt x="539159" y="577298"/>
                  </a:lnTo>
                  <a:lnTo>
                    <a:pt x="945559" y="288649"/>
                  </a:lnTo>
                  <a:close/>
                </a:path>
              </a:pathLst>
            </a:custGeom>
            <a:solidFill>
              <a:srgbClr val="000000"/>
            </a:solidFill>
          </p:spPr>
          <p:txBody>
            <a:bodyPr/>
            <a:lstStyle/>
            <a:p>
              <a:endParaRPr lang="zh-TW" altLang="en-US"/>
            </a:p>
          </p:txBody>
        </p:sp>
        <p:sp>
          <p:nvSpPr>
            <p:cNvPr id="8" name="TextBox 8"/>
            <p:cNvSpPr txBox="1"/>
            <p:nvPr/>
          </p:nvSpPr>
          <p:spPr>
            <a:xfrm>
              <a:off x="0" y="165100"/>
              <a:ext cx="843959" cy="208998"/>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
            <a:off x="13153818" y="5379723"/>
            <a:ext cx="3851849" cy="2527194"/>
          </a:xfrm>
          <a:custGeom>
            <a:avLst/>
            <a:gdLst/>
            <a:ahLst/>
            <a:cxnLst/>
            <a:rect l="l" t="t" r="r" b="b"/>
            <a:pathLst>
              <a:path w="3851849" h="2527194">
                <a:moveTo>
                  <a:pt x="38759" y="0"/>
                </a:moveTo>
                <a:lnTo>
                  <a:pt x="3851849" y="59901"/>
                </a:lnTo>
                <a:lnTo>
                  <a:pt x="3813090" y="2527194"/>
                </a:lnTo>
                <a:lnTo>
                  <a:pt x="0" y="2467293"/>
                </a:lnTo>
                <a:lnTo>
                  <a:pt x="38759" y="0"/>
                </a:lnTo>
                <a:close/>
              </a:path>
            </a:pathLst>
          </a:custGeom>
          <a:blipFill>
            <a:blip r:embed="rId7"/>
            <a:stretch>
              <a:fillRect l="-75444" t="-140923" r="-64104" b="-32909"/>
            </a:stretch>
          </a:blipFill>
        </p:spPr>
        <p:txBody>
          <a:bodyPr/>
          <a:lstStyle/>
          <a:p>
            <a:endParaRPr lang="zh-TW" altLang="en-US"/>
          </a:p>
        </p:txBody>
      </p:sp>
      <p:sp>
        <p:nvSpPr>
          <p:cNvPr id="10" name="Freeform 10"/>
          <p:cNvSpPr/>
          <p:nvPr/>
        </p:nvSpPr>
        <p:spPr>
          <a:xfrm>
            <a:off x="13134207" y="2509705"/>
            <a:ext cx="3830975" cy="2633795"/>
          </a:xfrm>
          <a:custGeom>
            <a:avLst/>
            <a:gdLst/>
            <a:ahLst/>
            <a:cxnLst/>
            <a:rect l="l" t="t" r="r" b="b"/>
            <a:pathLst>
              <a:path w="3830975" h="2633795">
                <a:moveTo>
                  <a:pt x="0" y="0"/>
                </a:moveTo>
                <a:lnTo>
                  <a:pt x="3830975" y="0"/>
                </a:lnTo>
                <a:lnTo>
                  <a:pt x="3830975" y="2633795"/>
                </a:lnTo>
                <a:lnTo>
                  <a:pt x="0" y="2633795"/>
                </a:lnTo>
                <a:lnTo>
                  <a:pt x="0" y="0"/>
                </a:lnTo>
                <a:close/>
              </a:path>
            </a:pathLst>
          </a:custGeom>
          <a:blipFill>
            <a:blip r:embed="rId8"/>
            <a:stretch>
              <a:fillRect l="-89425" t="-134917" r="-69340" b="-47372"/>
            </a:stretch>
          </a:blipFill>
        </p:spPr>
        <p:txBody>
          <a:bodyPr/>
          <a:lstStyle/>
          <a:p>
            <a:endParaRPr lang="zh-TW" altLang="en-US"/>
          </a:p>
        </p:txBody>
      </p:sp>
      <p:sp>
        <p:nvSpPr>
          <p:cNvPr id="11" name="TextBox 11"/>
          <p:cNvSpPr txBox="1"/>
          <p:nvPr/>
        </p:nvSpPr>
        <p:spPr>
          <a:xfrm>
            <a:off x="3918390" y="857250"/>
            <a:ext cx="10451219"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Introduction</a:t>
            </a:r>
          </a:p>
        </p:txBody>
      </p:sp>
      <p:sp>
        <p:nvSpPr>
          <p:cNvPr id="12" name="TextBox 12"/>
          <p:cNvSpPr txBox="1"/>
          <p:nvPr/>
        </p:nvSpPr>
        <p:spPr>
          <a:xfrm>
            <a:off x="5025765" y="3615478"/>
            <a:ext cx="1542229" cy="3315405"/>
          </a:xfrm>
          <a:prstGeom prst="rect">
            <a:avLst/>
          </a:prstGeom>
        </p:spPr>
        <p:txBody>
          <a:bodyPr lIns="0" tIns="0" rIns="0" bIns="0" rtlCol="0" anchor="t">
            <a:spAutoFit/>
          </a:bodyPr>
          <a:lstStyle/>
          <a:p>
            <a:pPr algn="ctr">
              <a:lnSpc>
                <a:spcPts val="26736"/>
              </a:lnSpc>
            </a:pPr>
            <a:r>
              <a:rPr lang="en-US" sz="19097">
                <a:solidFill>
                  <a:srgbClr val="000000"/>
                </a:solidFill>
                <a:latin typeface="Bobby Jones"/>
                <a:ea typeface="Bobby Jones"/>
                <a:cs typeface="Bobby Jones"/>
                <a:sym typeface="Bobby Jones"/>
              </a:rPr>
              <a:t>+</a:t>
            </a:r>
          </a:p>
        </p:txBody>
      </p:sp>
      <p:sp>
        <p:nvSpPr>
          <p:cNvPr id="13" name="TextBox 13"/>
          <p:cNvSpPr txBox="1"/>
          <p:nvPr/>
        </p:nvSpPr>
        <p:spPr>
          <a:xfrm>
            <a:off x="1311507" y="8295640"/>
            <a:ext cx="3756979" cy="962660"/>
          </a:xfrm>
          <a:prstGeom prst="rect">
            <a:avLst/>
          </a:prstGeom>
        </p:spPr>
        <p:txBody>
          <a:bodyPr lIns="0" tIns="0" rIns="0" bIns="0" rtlCol="0" anchor="t">
            <a:spAutoFit/>
          </a:bodyPr>
          <a:lstStyle/>
          <a:p>
            <a:pPr algn="ctr">
              <a:lnSpc>
                <a:spcPts val="7840"/>
              </a:lnSpc>
            </a:pPr>
            <a:r>
              <a:rPr lang="en-US" sz="5600" b="1">
                <a:solidFill>
                  <a:srgbClr val="000000"/>
                </a:solidFill>
                <a:latin typeface="Alegreya Bold"/>
                <a:ea typeface="Alegreya Bold"/>
                <a:cs typeface="Alegreya Bold"/>
                <a:sym typeface="Alegreya Bold"/>
              </a:rPr>
              <a:t>camera</a:t>
            </a:r>
          </a:p>
        </p:txBody>
      </p:sp>
      <p:sp>
        <p:nvSpPr>
          <p:cNvPr id="14" name="TextBox 14"/>
          <p:cNvSpPr txBox="1"/>
          <p:nvPr/>
        </p:nvSpPr>
        <p:spPr>
          <a:xfrm>
            <a:off x="6409182" y="8295640"/>
            <a:ext cx="3756979" cy="962660"/>
          </a:xfrm>
          <a:prstGeom prst="rect">
            <a:avLst/>
          </a:prstGeom>
        </p:spPr>
        <p:txBody>
          <a:bodyPr lIns="0" tIns="0" rIns="0" bIns="0" rtlCol="0" anchor="t">
            <a:spAutoFit/>
          </a:bodyPr>
          <a:lstStyle/>
          <a:p>
            <a:pPr algn="ctr">
              <a:lnSpc>
                <a:spcPts val="7840"/>
              </a:lnSpc>
            </a:pPr>
            <a:r>
              <a:rPr lang="en-US" sz="5600" b="1">
                <a:solidFill>
                  <a:srgbClr val="000000"/>
                </a:solidFill>
                <a:latin typeface="Alegreya Bold"/>
                <a:ea typeface="Alegreya Bold"/>
                <a:cs typeface="Alegreya Bold"/>
                <a:sym typeface="Alegreya Bold"/>
              </a:rPr>
              <a:t>style images</a:t>
            </a:r>
          </a:p>
        </p:txBody>
      </p:sp>
      <p:sp>
        <p:nvSpPr>
          <p:cNvPr id="15" name="TextBox 15"/>
          <p:cNvSpPr txBox="1"/>
          <p:nvPr/>
        </p:nvSpPr>
        <p:spPr>
          <a:xfrm>
            <a:off x="13171205" y="8362944"/>
            <a:ext cx="3756979" cy="1387475"/>
          </a:xfrm>
          <a:prstGeom prst="rect">
            <a:avLst/>
          </a:prstGeom>
        </p:spPr>
        <p:txBody>
          <a:bodyPr lIns="0" tIns="0" rIns="0" bIns="0" rtlCol="0" anchor="t">
            <a:spAutoFit/>
          </a:bodyPr>
          <a:lstStyle/>
          <a:p>
            <a:pPr algn="ctr">
              <a:lnSpc>
                <a:spcPts val="5320"/>
              </a:lnSpc>
            </a:pPr>
            <a:r>
              <a:rPr lang="en-US" sz="5600" b="1">
                <a:solidFill>
                  <a:srgbClr val="000000"/>
                </a:solidFill>
                <a:latin typeface="Alegreya Bold"/>
                <a:ea typeface="Alegreya Bold"/>
                <a:cs typeface="Alegreya Bold"/>
                <a:sym typeface="Alegreya Bold"/>
              </a:rPr>
              <a:t>real-time image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sp>
        <p:nvSpPr>
          <p:cNvPr id="3" name="Freeform 3"/>
          <p:cNvSpPr/>
          <p:nvPr/>
        </p:nvSpPr>
        <p:spPr>
          <a:xfrm rot="-54000">
            <a:off x="1966344" y="6497373"/>
            <a:ext cx="3851849" cy="2527194"/>
          </a:xfrm>
          <a:custGeom>
            <a:avLst/>
            <a:gdLst/>
            <a:ahLst/>
            <a:cxnLst/>
            <a:rect l="l" t="t" r="r" b="b"/>
            <a:pathLst>
              <a:path w="3851849" h="2527194">
                <a:moveTo>
                  <a:pt x="38760" y="0"/>
                </a:moveTo>
                <a:lnTo>
                  <a:pt x="3851850" y="59901"/>
                </a:lnTo>
                <a:lnTo>
                  <a:pt x="3813090" y="2527194"/>
                </a:lnTo>
                <a:lnTo>
                  <a:pt x="0" y="2467293"/>
                </a:lnTo>
                <a:lnTo>
                  <a:pt x="38760" y="0"/>
                </a:lnTo>
                <a:close/>
              </a:path>
            </a:pathLst>
          </a:custGeom>
          <a:blipFill>
            <a:blip r:embed="rId4"/>
            <a:stretch>
              <a:fillRect l="-75444" t="-140923" r="-64104" b="-32909"/>
            </a:stretch>
          </a:blipFill>
        </p:spPr>
        <p:txBody>
          <a:bodyPr/>
          <a:lstStyle/>
          <a:p>
            <a:endParaRPr lang="zh-TW" altLang="en-US"/>
          </a:p>
        </p:txBody>
      </p:sp>
      <p:sp>
        <p:nvSpPr>
          <p:cNvPr id="4" name="Freeform 4"/>
          <p:cNvSpPr/>
          <p:nvPr/>
        </p:nvSpPr>
        <p:spPr>
          <a:xfrm>
            <a:off x="1968074" y="3324368"/>
            <a:ext cx="3830975" cy="2633795"/>
          </a:xfrm>
          <a:custGeom>
            <a:avLst/>
            <a:gdLst/>
            <a:ahLst/>
            <a:cxnLst/>
            <a:rect l="l" t="t" r="r" b="b"/>
            <a:pathLst>
              <a:path w="3830975" h="2633795">
                <a:moveTo>
                  <a:pt x="0" y="0"/>
                </a:moveTo>
                <a:lnTo>
                  <a:pt x="3830975" y="0"/>
                </a:lnTo>
                <a:lnTo>
                  <a:pt x="3830975" y="2633795"/>
                </a:lnTo>
                <a:lnTo>
                  <a:pt x="0" y="2633795"/>
                </a:lnTo>
                <a:lnTo>
                  <a:pt x="0" y="0"/>
                </a:lnTo>
                <a:close/>
              </a:path>
            </a:pathLst>
          </a:custGeom>
          <a:blipFill>
            <a:blip r:embed="rId5"/>
            <a:stretch>
              <a:fillRect l="-89425" t="-134917" r="-69340" b="-47372"/>
            </a:stretch>
          </a:blipFill>
        </p:spPr>
        <p:txBody>
          <a:bodyPr/>
          <a:lstStyle/>
          <a:p>
            <a:endParaRPr lang="zh-TW" altLang="en-US"/>
          </a:p>
        </p:txBody>
      </p:sp>
      <p:sp>
        <p:nvSpPr>
          <p:cNvPr id="5" name="Freeform 5"/>
          <p:cNvSpPr/>
          <p:nvPr/>
        </p:nvSpPr>
        <p:spPr>
          <a:xfrm rot="-8230083">
            <a:off x="5684399" y="5492576"/>
            <a:ext cx="2101776" cy="2069191"/>
          </a:xfrm>
          <a:custGeom>
            <a:avLst/>
            <a:gdLst/>
            <a:ahLst/>
            <a:cxnLst/>
            <a:rect l="l" t="t" r="r" b="b"/>
            <a:pathLst>
              <a:path w="2101776" h="2069191">
                <a:moveTo>
                  <a:pt x="0" y="0"/>
                </a:moveTo>
                <a:lnTo>
                  <a:pt x="2101776" y="0"/>
                </a:lnTo>
                <a:lnTo>
                  <a:pt x="2101776" y="2069190"/>
                </a:lnTo>
                <a:lnTo>
                  <a:pt x="0" y="2069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6" name="Freeform 6"/>
          <p:cNvSpPr/>
          <p:nvPr/>
        </p:nvSpPr>
        <p:spPr>
          <a:xfrm>
            <a:off x="7095058" y="5958163"/>
            <a:ext cx="2228537" cy="2366207"/>
          </a:xfrm>
          <a:custGeom>
            <a:avLst/>
            <a:gdLst/>
            <a:ahLst/>
            <a:cxnLst/>
            <a:rect l="l" t="t" r="r" b="b"/>
            <a:pathLst>
              <a:path w="2228537" h="2366207">
                <a:moveTo>
                  <a:pt x="0" y="0"/>
                </a:moveTo>
                <a:lnTo>
                  <a:pt x="2228537" y="0"/>
                </a:lnTo>
                <a:lnTo>
                  <a:pt x="2228537" y="2366207"/>
                </a:lnTo>
                <a:lnTo>
                  <a:pt x="0" y="23662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7" name="Freeform 7"/>
          <p:cNvSpPr/>
          <p:nvPr/>
        </p:nvSpPr>
        <p:spPr>
          <a:xfrm>
            <a:off x="15898265" y="6533458"/>
            <a:ext cx="1585363" cy="2724842"/>
          </a:xfrm>
          <a:custGeom>
            <a:avLst/>
            <a:gdLst/>
            <a:ahLst/>
            <a:cxnLst/>
            <a:rect l="l" t="t" r="r" b="b"/>
            <a:pathLst>
              <a:path w="1585363" h="2724842">
                <a:moveTo>
                  <a:pt x="0" y="0"/>
                </a:moveTo>
                <a:lnTo>
                  <a:pt x="1585362" y="0"/>
                </a:lnTo>
                <a:lnTo>
                  <a:pt x="1585362" y="2724842"/>
                </a:lnTo>
                <a:lnTo>
                  <a:pt x="0" y="27248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sp>
        <p:nvSpPr>
          <p:cNvPr id="8" name="Freeform 8"/>
          <p:cNvSpPr/>
          <p:nvPr/>
        </p:nvSpPr>
        <p:spPr>
          <a:xfrm>
            <a:off x="11994349" y="4358464"/>
            <a:ext cx="3468223" cy="2705214"/>
          </a:xfrm>
          <a:custGeom>
            <a:avLst/>
            <a:gdLst/>
            <a:ahLst/>
            <a:cxnLst/>
            <a:rect l="l" t="t" r="r" b="b"/>
            <a:pathLst>
              <a:path w="3468223" h="2705214">
                <a:moveTo>
                  <a:pt x="0" y="0"/>
                </a:moveTo>
                <a:lnTo>
                  <a:pt x="3468223" y="0"/>
                </a:lnTo>
                <a:lnTo>
                  <a:pt x="3468223" y="2705214"/>
                </a:lnTo>
                <a:lnTo>
                  <a:pt x="0" y="270521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zh-TW" altLang="en-US"/>
          </a:p>
        </p:txBody>
      </p:sp>
      <p:sp>
        <p:nvSpPr>
          <p:cNvPr id="9" name="TextBox 9"/>
          <p:cNvSpPr txBox="1"/>
          <p:nvPr/>
        </p:nvSpPr>
        <p:spPr>
          <a:xfrm>
            <a:off x="3918390" y="857250"/>
            <a:ext cx="10451219"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sp>
        <p:nvSpPr>
          <p:cNvPr id="3" name="TextBox 3"/>
          <p:cNvSpPr txBox="1"/>
          <p:nvPr/>
        </p:nvSpPr>
        <p:spPr>
          <a:xfrm>
            <a:off x="3679044" y="847725"/>
            <a:ext cx="10929913" cy="1419243"/>
          </a:xfrm>
          <a:prstGeom prst="rect">
            <a:avLst/>
          </a:prstGeom>
        </p:spPr>
        <p:txBody>
          <a:bodyPr lIns="0" tIns="0" rIns="0" bIns="0" rtlCol="0" anchor="t">
            <a:spAutoFit/>
          </a:bodyPr>
          <a:lstStyle/>
          <a:p>
            <a:pPr algn="ctr">
              <a:lnSpc>
                <a:spcPts val="11432"/>
              </a:lnSpc>
            </a:pPr>
            <a:r>
              <a:rPr lang="en-US" sz="8165">
                <a:solidFill>
                  <a:srgbClr val="000000"/>
                </a:solidFill>
                <a:latin typeface="Bobby Jones"/>
                <a:ea typeface="Bobby Jones"/>
                <a:cs typeface="Bobby Jones"/>
                <a:sym typeface="Bobby Jones"/>
              </a:rPr>
              <a:t>style transfer model</a:t>
            </a:r>
          </a:p>
        </p:txBody>
      </p:sp>
      <p:sp>
        <p:nvSpPr>
          <p:cNvPr id="4" name="Freeform 4"/>
          <p:cNvSpPr/>
          <p:nvPr/>
        </p:nvSpPr>
        <p:spPr>
          <a:xfrm>
            <a:off x="9144063" y="3340595"/>
            <a:ext cx="8314362" cy="5404336"/>
          </a:xfrm>
          <a:custGeom>
            <a:avLst/>
            <a:gdLst/>
            <a:ahLst/>
            <a:cxnLst/>
            <a:rect l="l" t="t" r="r" b="b"/>
            <a:pathLst>
              <a:path w="8314362" h="5404336">
                <a:moveTo>
                  <a:pt x="0" y="0"/>
                </a:moveTo>
                <a:lnTo>
                  <a:pt x="8314363" y="0"/>
                </a:lnTo>
                <a:lnTo>
                  <a:pt x="8314363" y="5404336"/>
                </a:lnTo>
                <a:lnTo>
                  <a:pt x="0" y="5404336"/>
                </a:lnTo>
                <a:lnTo>
                  <a:pt x="0" y="0"/>
                </a:lnTo>
                <a:close/>
              </a:path>
            </a:pathLst>
          </a:custGeom>
          <a:blipFill>
            <a:blip r:embed="rId4"/>
            <a:stretch>
              <a:fillRect/>
            </a:stretch>
          </a:blipFill>
        </p:spPr>
        <p:txBody>
          <a:bodyPr/>
          <a:lstStyle/>
          <a:p>
            <a:endParaRPr lang="zh-TW" altLang="en-US"/>
          </a:p>
        </p:txBody>
      </p:sp>
      <p:sp>
        <p:nvSpPr>
          <p:cNvPr id="5" name="Freeform 5"/>
          <p:cNvSpPr/>
          <p:nvPr/>
        </p:nvSpPr>
        <p:spPr>
          <a:xfrm>
            <a:off x="618265" y="3340595"/>
            <a:ext cx="8314362" cy="5404336"/>
          </a:xfrm>
          <a:custGeom>
            <a:avLst/>
            <a:gdLst/>
            <a:ahLst/>
            <a:cxnLst/>
            <a:rect l="l" t="t" r="r" b="b"/>
            <a:pathLst>
              <a:path w="8314362" h="5404336">
                <a:moveTo>
                  <a:pt x="0" y="0"/>
                </a:moveTo>
                <a:lnTo>
                  <a:pt x="8314363" y="0"/>
                </a:lnTo>
                <a:lnTo>
                  <a:pt x="8314363" y="5404336"/>
                </a:lnTo>
                <a:lnTo>
                  <a:pt x="0" y="5404336"/>
                </a:lnTo>
                <a:lnTo>
                  <a:pt x="0" y="0"/>
                </a:lnTo>
                <a:close/>
              </a:path>
            </a:pathLst>
          </a:custGeom>
          <a:blipFill>
            <a:blip r:embed="rId5"/>
            <a:stretch>
              <a:fillRect/>
            </a:stretch>
          </a:blipFill>
        </p:spPr>
        <p:txBody>
          <a:bodyPr/>
          <a:lstStyle/>
          <a:p>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grpSp>
        <p:nvGrpSpPr>
          <p:cNvPr id="3" name="Group 3"/>
          <p:cNvGrpSpPr/>
          <p:nvPr/>
        </p:nvGrpSpPr>
        <p:grpSpPr>
          <a:xfrm>
            <a:off x="1423493" y="3647068"/>
            <a:ext cx="4947308" cy="4323264"/>
            <a:chOff x="0" y="0"/>
            <a:chExt cx="1302995" cy="1138637"/>
          </a:xfrm>
        </p:grpSpPr>
        <p:sp>
          <p:nvSpPr>
            <p:cNvPr id="4" name="Freeform 4"/>
            <p:cNvSpPr/>
            <p:nvPr/>
          </p:nvSpPr>
          <p:spPr>
            <a:xfrm>
              <a:off x="0" y="0"/>
              <a:ext cx="1302995" cy="1138637"/>
            </a:xfrm>
            <a:custGeom>
              <a:avLst/>
              <a:gdLst/>
              <a:ahLst/>
              <a:cxnLst/>
              <a:rect l="l" t="t" r="r" b="b"/>
              <a:pathLst>
                <a:path w="1302995" h="1138637">
                  <a:moveTo>
                    <a:pt x="79809" y="0"/>
                  </a:moveTo>
                  <a:lnTo>
                    <a:pt x="1223186" y="0"/>
                  </a:lnTo>
                  <a:cubicBezTo>
                    <a:pt x="1267263" y="0"/>
                    <a:pt x="1302995" y="35732"/>
                    <a:pt x="1302995" y="79809"/>
                  </a:cubicBezTo>
                  <a:lnTo>
                    <a:pt x="1302995" y="1058829"/>
                  </a:lnTo>
                  <a:cubicBezTo>
                    <a:pt x="1302995" y="1079995"/>
                    <a:pt x="1294586" y="1100295"/>
                    <a:pt x="1279619" y="1115262"/>
                  </a:cubicBezTo>
                  <a:cubicBezTo>
                    <a:pt x="1264652" y="1130229"/>
                    <a:pt x="1244353" y="1138637"/>
                    <a:pt x="1223186" y="1138637"/>
                  </a:cubicBezTo>
                  <a:lnTo>
                    <a:pt x="79809" y="1138637"/>
                  </a:lnTo>
                  <a:cubicBezTo>
                    <a:pt x="58642" y="1138637"/>
                    <a:pt x="38342" y="1130229"/>
                    <a:pt x="23375" y="1115262"/>
                  </a:cubicBezTo>
                  <a:cubicBezTo>
                    <a:pt x="8408" y="1100295"/>
                    <a:pt x="0" y="1079995"/>
                    <a:pt x="0" y="1058829"/>
                  </a:cubicBezTo>
                  <a:lnTo>
                    <a:pt x="0" y="79809"/>
                  </a:lnTo>
                  <a:cubicBezTo>
                    <a:pt x="0" y="35732"/>
                    <a:pt x="35732" y="0"/>
                    <a:pt x="7980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1302995" cy="117673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798390" y="4999075"/>
            <a:ext cx="4197513" cy="1535613"/>
          </a:xfrm>
          <a:prstGeom prst="rect">
            <a:avLst/>
          </a:prstGeom>
        </p:spPr>
        <p:txBody>
          <a:bodyPr lIns="0" tIns="0" rIns="0" bIns="0" rtlCol="0" anchor="t">
            <a:spAutoFit/>
          </a:bodyPr>
          <a:lstStyle/>
          <a:p>
            <a:pPr algn="ctr">
              <a:lnSpc>
                <a:spcPts val="6184"/>
              </a:lnSpc>
            </a:pPr>
            <a:r>
              <a:rPr lang="en-US" sz="4417" b="1">
                <a:solidFill>
                  <a:srgbClr val="000000"/>
                </a:solidFill>
                <a:latin typeface="Alegreya Bold"/>
                <a:ea typeface="Alegreya Bold"/>
                <a:cs typeface="Alegreya Bold"/>
                <a:sym typeface="Alegreya Bold"/>
              </a:rPr>
              <a:t>Model Function Simplification</a:t>
            </a:r>
          </a:p>
        </p:txBody>
      </p:sp>
      <p:grpSp>
        <p:nvGrpSpPr>
          <p:cNvPr id="7" name="Group 7"/>
          <p:cNvGrpSpPr/>
          <p:nvPr/>
        </p:nvGrpSpPr>
        <p:grpSpPr>
          <a:xfrm>
            <a:off x="6670346" y="3647068"/>
            <a:ext cx="4947308" cy="4323264"/>
            <a:chOff x="0" y="0"/>
            <a:chExt cx="1302995" cy="1138637"/>
          </a:xfrm>
        </p:grpSpPr>
        <p:sp>
          <p:nvSpPr>
            <p:cNvPr id="8" name="Freeform 8"/>
            <p:cNvSpPr/>
            <p:nvPr/>
          </p:nvSpPr>
          <p:spPr>
            <a:xfrm>
              <a:off x="0" y="0"/>
              <a:ext cx="1302995" cy="1138637"/>
            </a:xfrm>
            <a:custGeom>
              <a:avLst/>
              <a:gdLst/>
              <a:ahLst/>
              <a:cxnLst/>
              <a:rect l="l" t="t" r="r" b="b"/>
              <a:pathLst>
                <a:path w="1302995" h="1138637">
                  <a:moveTo>
                    <a:pt x="79809" y="0"/>
                  </a:moveTo>
                  <a:lnTo>
                    <a:pt x="1223186" y="0"/>
                  </a:lnTo>
                  <a:cubicBezTo>
                    <a:pt x="1267263" y="0"/>
                    <a:pt x="1302995" y="35732"/>
                    <a:pt x="1302995" y="79809"/>
                  </a:cubicBezTo>
                  <a:lnTo>
                    <a:pt x="1302995" y="1058829"/>
                  </a:lnTo>
                  <a:cubicBezTo>
                    <a:pt x="1302995" y="1079995"/>
                    <a:pt x="1294586" y="1100295"/>
                    <a:pt x="1279619" y="1115262"/>
                  </a:cubicBezTo>
                  <a:cubicBezTo>
                    <a:pt x="1264652" y="1130229"/>
                    <a:pt x="1244353" y="1138637"/>
                    <a:pt x="1223186" y="1138637"/>
                  </a:cubicBezTo>
                  <a:lnTo>
                    <a:pt x="79809" y="1138637"/>
                  </a:lnTo>
                  <a:cubicBezTo>
                    <a:pt x="58642" y="1138637"/>
                    <a:pt x="38342" y="1130229"/>
                    <a:pt x="23375" y="1115262"/>
                  </a:cubicBezTo>
                  <a:cubicBezTo>
                    <a:pt x="8408" y="1100295"/>
                    <a:pt x="0" y="1079995"/>
                    <a:pt x="0" y="1058829"/>
                  </a:cubicBezTo>
                  <a:lnTo>
                    <a:pt x="0" y="79809"/>
                  </a:lnTo>
                  <a:cubicBezTo>
                    <a:pt x="0" y="35732"/>
                    <a:pt x="35732" y="0"/>
                    <a:pt x="7980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9" name="TextBox 9"/>
            <p:cNvSpPr txBox="1"/>
            <p:nvPr/>
          </p:nvSpPr>
          <p:spPr>
            <a:xfrm>
              <a:off x="0" y="-38100"/>
              <a:ext cx="1302995" cy="1176737"/>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1912929" y="3647068"/>
            <a:ext cx="4947308" cy="4323264"/>
            <a:chOff x="0" y="0"/>
            <a:chExt cx="1302995" cy="1138637"/>
          </a:xfrm>
        </p:grpSpPr>
        <p:sp>
          <p:nvSpPr>
            <p:cNvPr id="11" name="Freeform 11"/>
            <p:cNvSpPr/>
            <p:nvPr/>
          </p:nvSpPr>
          <p:spPr>
            <a:xfrm>
              <a:off x="0" y="0"/>
              <a:ext cx="1302995" cy="1138637"/>
            </a:xfrm>
            <a:custGeom>
              <a:avLst/>
              <a:gdLst/>
              <a:ahLst/>
              <a:cxnLst/>
              <a:rect l="l" t="t" r="r" b="b"/>
              <a:pathLst>
                <a:path w="1302995" h="1138637">
                  <a:moveTo>
                    <a:pt x="79809" y="0"/>
                  </a:moveTo>
                  <a:lnTo>
                    <a:pt x="1223186" y="0"/>
                  </a:lnTo>
                  <a:cubicBezTo>
                    <a:pt x="1267263" y="0"/>
                    <a:pt x="1302995" y="35732"/>
                    <a:pt x="1302995" y="79809"/>
                  </a:cubicBezTo>
                  <a:lnTo>
                    <a:pt x="1302995" y="1058829"/>
                  </a:lnTo>
                  <a:cubicBezTo>
                    <a:pt x="1302995" y="1079995"/>
                    <a:pt x="1294586" y="1100295"/>
                    <a:pt x="1279619" y="1115262"/>
                  </a:cubicBezTo>
                  <a:cubicBezTo>
                    <a:pt x="1264652" y="1130229"/>
                    <a:pt x="1244353" y="1138637"/>
                    <a:pt x="1223186" y="1138637"/>
                  </a:cubicBezTo>
                  <a:lnTo>
                    <a:pt x="79809" y="1138637"/>
                  </a:lnTo>
                  <a:cubicBezTo>
                    <a:pt x="58642" y="1138637"/>
                    <a:pt x="38342" y="1130229"/>
                    <a:pt x="23375" y="1115262"/>
                  </a:cubicBezTo>
                  <a:cubicBezTo>
                    <a:pt x="8408" y="1100295"/>
                    <a:pt x="0" y="1079995"/>
                    <a:pt x="0" y="1058829"/>
                  </a:cubicBezTo>
                  <a:lnTo>
                    <a:pt x="0" y="79809"/>
                  </a:lnTo>
                  <a:cubicBezTo>
                    <a:pt x="0" y="35732"/>
                    <a:pt x="35732" y="0"/>
                    <a:pt x="7980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12" name="TextBox 12"/>
            <p:cNvSpPr txBox="1"/>
            <p:nvPr/>
          </p:nvSpPr>
          <p:spPr>
            <a:xfrm>
              <a:off x="0" y="-38100"/>
              <a:ext cx="1302995" cy="1176737"/>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3679044" y="847725"/>
            <a:ext cx="10929913" cy="1419243"/>
          </a:xfrm>
          <a:prstGeom prst="rect">
            <a:avLst/>
          </a:prstGeom>
        </p:spPr>
        <p:txBody>
          <a:bodyPr lIns="0" tIns="0" rIns="0" bIns="0" rtlCol="0" anchor="t">
            <a:spAutoFit/>
          </a:bodyPr>
          <a:lstStyle/>
          <a:p>
            <a:pPr algn="ctr">
              <a:lnSpc>
                <a:spcPts val="11432"/>
              </a:lnSpc>
            </a:pPr>
            <a:r>
              <a:rPr lang="en-US" sz="8165">
                <a:solidFill>
                  <a:srgbClr val="000000"/>
                </a:solidFill>
                <a:latin typeface="Bobby Jones"/>
                <a:ea typeface="Bobby Jones"/>
                <a:cs typeface="Bobby Jones"/>
                <a:sym typeface="Bobby Jones"/>
              </a:rPr>
              <a:t>style transfer model</a:t>
            </a:r>
          </a:p>
        </p:txBody>
      </p:sp>
      <p:sp>
        <p:nvSpPr>
          <p:cNvPr id="14" name="TextBox 14"/>
          <p:cNvSpPr txBox="1"/>
          <p:nvPr/>
        </p:nvSpPr>
        <p:spPr>
          <a:xfrm>
            <a:off x="7198502" y="4953907"/>
            <a:ext cx="4039369" cy="1623862"/>
          </a:xfrm>
          <a:prstGeom prst="rect">
            <a:avLst/>
          </a:prstGeom>
        </p:spPr>
        <p:txBody>
          <a:bodyPr lIns="0" tIns="0" rIns="0" bIns="0" rtlCol="0" anchor="t">
            <a:spAutoFit/>
          </a:bodyPr>
          <a:lstStyle/>
          <a:p>
            <a:pPr algn="ctr">
              <a:lnSpc>
                <a:spcPts val="6570"/>
              </a:lnSpc>
            </a:pPr>
            <a:r>
              <a:rPr lang="en-US" sz="4693" b="1">
                <a:solidFill>
                  <a:srgbClr val="000000"/>
                </a:solidFill>
                <a:latin typeface="Alegreya Bold"/>
                <a:ea typeface="Alegreya Bold"/>
                <a:cs typeface="Alegreya Bold"/>
                <a:sym typeface="Alegreya Bold"/>
              </a:rPr>
              <a:t>Multiple Image Input</a:t>
            </a:r>
          </a:p>
        </p:txBody>
      </p:sp>
      <p:sp>
        <p:nvSpPr>
          <p:cNvPr id="15" name="TextBox 15"/>
          <p:cNvSpPr txBox="1"/>
          <p:nvPr/>
        </p:nvSpPr>
        <p:spPr>
          <a:xfrm>
            <a:off x="12084379" y="4680527"/>
            <a:ext cx="4569810" cy="2172708"/>
          </a:xfrm>
          <a:prstGeom prst="rect">
            <a:avLst/>
          </a:prstGeom>
        </p:spPr>
        <p:txBody>
          <a:bodyPr lIns="0" tIns="0" rIns="0" bIns="0" rtlCol="0" anchor="t">
            <a:spAutoFit/>
          </a:bodyPr>
          <a:lstStyle/>
          <a:p>
            <a:pPr algn="ctr">
              <a:lnSpc>
                <a:spcPts val="6570"/>
              </a:lnSpc>
            </a:pPr>
            <a:r>
              <a:rPr lang="en-US" sz="4693" b="1">
                <a:solidFill>
                  <a:srgbClr val="000000"/>
                </a:solidFill>
                <a:latin typeface="Alegreya Bold"/>
                <a:ea typeface="Alegreya Bold"/>
                <a:cs typeface="Alegreya Bold"/>
                <a:sym typeface="Alegreya Bold"/>
              </a:rPr>
              <a:t>Real-Time Status Display in UI</a:t>
            </a:r>
          </a:p>
          <a:p>
            <a:pPr algn="ctr">
              <a:lnSpc>
                <a:spcPts val="4737"/>
              </a:lnSpc>
            </a:pPr>
            <a:r>
              <a:rPr lang="en-US" sz="2493" b="1">
                <a:solidFill>
                  <a:srgbClr val="000000"/>
                </a:solidFill>
                <a:latin typeface="Alegreya Bold"/>
                <a:ea typeface="Alegreya Bold"/>
                <a:cs typeface="Alegreya Bold"/>
                <a:sym typeface="Alegreya Bold"/>
              </a:rPr>
              <a:t>(FPS, System State, Current Style)</a:t>
            </a:r>
          </a:p>
        </p:txBody>
      </p:sp>
      <p:sp>
        <p:nvSpPr>
          <p:cNvPr id="16" name="TextBox 16"/>
          <p:cNvSpPr txBox="1"/>
          <p:nvPr/>
        </p:nvSpPr>
        <p:spPr>
          <a:xfrm>
            <a:off x="1507204" y="2822880"/>
            <a:ext cx="4779885" cy="955675"/>
          </a:xfrm>
          <a:prstGeom prst="rect">
            <a:avLst/>
          </a:prstGeom>
        </p:spPr>
        <p:txBody>
          <a:bodyPr lIns="0" tIns="0" rIns="0" bIns="0" rtlCol="0" anchor="t">
            <a:spAutoFit/>
          </a:bodyPr>
          <a:lstStyle/>
          <a:p>
            <a:pPr algn="ctr">
              <a:lnSpc>
                <a:spcPts val="7699"/>
              </a:lnSpc>
            </a:pPr>
            <a:r>
              <a:rPr lang="en-US" sz="5499">
                <a:solidFill>
                  <a:srgbClr val="000000"/>
                </a:solidFill>
                <a:latin typeface="Bobby Jones"/>
                <a:ea typeface="Bobby Jones"/>
                <a:cs typeface="Bobby Jones"/>
                <a:sym typeface="Bobby Jones"/>
              </a:rPr>
              <a:t>point 1</a:t>
            </a:r>
          </a:p>
        </p:txBody>
      </p:sp>
      <p:sp>
        <p:nvSpPr>
          <p:cNvPr id="17" name="TextBox 17"/>
          <p:cNvSpPr txBox="1"/>
          <p:nvPr/>
        </p:nvSpPr>
        <p:spPr>
          <a:xfrm>
            <a:off x="6828244" y="2832405"/>
            <a:ext cx="4779885" cy="955675"/>
          </a:xfrm>
          <a:prstGeom prst="rect">
            <a:avLst/>
          </a:prstGeom>
        </p:spPr>
        <p:txBody>
          <a:bodyPr lIns="0" tIns="0" rIns="0" bIns="0" rtlCol="0" anchor="t">
            <a:spAutoFit/>
          </a:bodyPr>
          <a:lstStyle/>
          <a:p>
            <a:pPr algn="ctr">
              <a:lnSpc>
                <a:spcPts val="7699"/>
              </a:lnSpc>
            </a:pPr>
            <a:r>
              <a:rPr lang="en-US" sz="5499">
                <a:solidFill>
                  <a:srgbClr val="000000"/>
                </a:solidFill>
                <a:latin typeface="Bobby Jones"/>
                <a:ea typeface="Bobby Jones"/>
                <a:cs typeface="Bobby Jones"/>
                <a:sym typeface="Bobby Jones"/>
              </a:rPr>
              <a:t>point 2</a:t>
            </a:r>
          </a:p>
        </p:txBody>
      </p:sp>
      <p:sp>
        <p:nvSpPr>
          <p:cNvPr id="18" name="TextBox 18"/>
          <p:cNvSpPr txBox="1"/>
          <p:nvPr/>
        </p:nvSpPr>
        <p:spPr>
          <a:xfrm>
            <a:off x="12074854" y="2832405"/>
            <a:ext cx="4779885" cy="955675"/>
          </a:xfrm>
          <a:prstGeom prst="rect">
            <a:avLst/>
          </a:prstGeom>
        </p:spPr>
        <p:txBody>
          <a:bodyPr lIns="0" tIns="0" rIns="0" bIns="0" rtlCol="0" anchor="t">
            <a:spAutoFit/>
          </a:bodyPr>
          <a:lstStyle/>
          <a:p>
            <a:pPr algn="ctr">
              <a:lnSpc>
                <a:spcPts val="7699"/>
              </a:lnSpc>
            </a:pPr>
            <a:r>
              <a:rPr lang="en-US" sz="5499">
                <a:solidFill>
                  <a:srgbClr val="000000"/>
                </a:solidFill>
                <a:latin typeface="Bobby Jones"/>
                <a:ea typeface="Bobby Jones"/>
                <a:cs typeface="Bobby Jones"/>
                <a:sym typeface="Bobby Jones"/>
              </a:rPr>
              <a:t>point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grpSp>
        <p:nvGrpSpPr>
          <p:cNvPr id="3" name="Group 3"/>
          <p:cNvGrpSpPr/>
          <p:nvPr/>
        </p:nvGrpSpPr>
        <p:grpSpPr>
          <a:xfrm>
            <a:off x="1239650" y="4420209"/>
            <a:ext cx="7547625" cy="3630899"/>
            <a:chOff x="0" y="0"/>
            <a:chExt cx="1773390" cy="853116"/>
          </a:xfrm>
        </p:grpSpPr>
        <p:sp>
          <p:nvSpPr>
            <p:cNvPr id="4" name="Freeform 4"/>
            <p:cNvSpPr/>
            <p:nvPr/>
          </p:nvSpPr>
          <p:spPr>
            <a:xfrm>
              <a:off x="0" y="0"/>
              <a:ext cx="1773390" cy="853116"/>
            </a:xfrm>
            <a:custGeom>
              <a:avLst/>
              <a:gdLst/>
              <a:ahLst/>
              <a:cxnLst/>
              <a:rect l="l" t="t" r="r" b="b"/>
              <a:pathLst>
                <a:path w="1773390" h="853116">
                  <a:moveTo>
                    <a:pt x="52313" y="0"/>
                  </a:moveTo>
                  <a:lnTo>
                    <a:pt x="1721077" y="0"/>
                  </a:lnTo>
                  <a:cubicBezTo>
                    <a:pt x="1749968" y="0"/>
                    <a:pt x="1773390" y="23421"/>
                    <a:pt x="1773390" y="52313"/>
                  </a:cubicBezTo>
                  <a:lnTo>
                    <a:pt x="1773390" y="800803"/>
                  </a:lnTo>
                  <a:cubicBezTo>
                    <a:pt x="1773390" y="829695"/>
                    <a:pt x="1749968" y="853116"/>
                    <a:pt x="1721077" y="853116"/>
                  </a:cubicBezTo>
                  <a:lnTo>
                    <a:pt x="52313" y="853116"/>
                  </a:lnTo>
                  <a:cubicBezTo>
                    <a:pt x="23421" y="853116"/>
                    <a:pt x="0" y="829695"/>
                    <a:pt x="0" y="800803"/>
                  </a:cubicBezTo>
                  <a:lnTo>
                    <a:pt x="0" y="52313"/>
                  </a:lnTo>
                  <a:cubicBezTo>
                    <a:pt x="0" y="23421"/>
                    <a:pt x="23421" y="0"/>
                    <a:pt x="52313"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1773390" cy="891216"/>
            </a:xfrm>
            <a:prstGeom prst="rect">
              <a:avLst/>
            </a:prstGeom>
          </p:spPr>
          <p:txBody>
            <a:bodyPr lIns="56943" tIns="56943" rIns="56943" bIns="56943" rtlCol="0" anchor="ctr"/>
            <a:lstStyle/>
            <a:p>
              <a:pPr algn="ctr">
                <a:lnSpc>
                  <a:spcPts val="2659"/>
                </a:lnSpc>
              </a:pPr>
              <a:endParaRPr/>
            </a:p>
          </p:txBody>
        </p:sp>
      </p:grpSp>
      <p:grpSp>
        <p:nvGrpSpPr>
          <p:cNvPr id="6" name="Group 6"/>
          <p:cNvGrpSpPr/>
          <p:nvPr/>
        </p:nvGrpSpPr>
        <p:grpSpPr>
          <a:xfrm>
            <a:off x="1968396" y="3265097"/>
            <a:ext cx="6090133" cy="1346419"/>
            <a:chOff x="0" y="0"/>
            <a:chExt cx="1430937" cy="316354"/>
          </a:xfrm>
        </p:grpSpPr>
        <p:sp>
          <p:nvSpPr>
            <p:cNvPr id="7" name="Freeform 7"/>
            <p:cNvSpPr/>
            <p:nvPr/>
          </p:nvSpPr>
          <p:spPr>
            <a:xfrm>
              <a:off x="0" y="0"/>
              <a:ext cx="1430937" cy="316355"/>
            </a:xfrm>
            <a:custGeom>
              <a:avLst/>
              <a:gdLst/>
              <a:ahLst/>
              <a:cxnLst/>
              <a:rect l="l" t="t" r="r" b="b"/>
              <a:pathLst>
                <a:path w="1430937" h="316355">
                  <a:moveTo>
                    <a:pt x="64832" y="0"/>
                  </a:moveTo>
                  <a:lnTo>
                    <a:pt x="1366105" y="0"/>
                  </a:lnTo>
                  <a:cubicBezTo>
                    <a:pt x="1401911" y="0"/>
                    <a:pt x="1430937" y="29026"/>
                    <a:pt x="1430937" y="64832"/>
                  </a:cubicBezTo>
                  <a:lnTo>
                    <a:pt x="1430937" y="251522"/>
                  </a:lnTo>
                  <a:cubicBezTo>
                    <a:pt x="1430937" y="268717"/>
                    <a:pt x="1424107" y="285207"/>
                    <a:pt x="1411949" y="297366"/>
                  </a:cubicBezTo>
                  <a:cubicBezTo>
                    <a:pt x="1399790" y="309524"/>
                    <a:pt x="1383300" y="316355"/>
                    <a:pt x="1366105" y="316355"/>
                  </a:cubicBezTo>
                  <a:lnTo>
                    <a:pt x="64832" y="316355"/>
                  </a:lnTo>
                  <a:cubicBezTo>
                    <a:pt x="47638" y="316355"/>
                    <a:pt x="31147" y="309524"/>
                    <a:pt x="18989" y="297366"/>
                  </a:cubicBezTo>
                  <a:cubicBezTo>
                    <a:pt x="6831" y="285207"/>
                    <a:pt x="0" y="268717"/>
                    <a:pt x="0" y="251522"/>
                  </a:cubicBezTo>
                  <a:lnTo>
                    <a:pt x="0" y="64832"/>
                  </a:lnTo>
                  <a:cubicBezTo>
                    <a:pt x="0" y="47638"/>
                    <a:pt x="6831" y="31147"/>
                    <a:pt x="18989" y="18989"/>
                  </a:cubicBezTo>
                  <a:cubicBezTo>
                    <a:pt x="31147" y="6831"/>
                    <a:pt x="47638" y="0"/>
                    <a:pt x="64832" y="0"/>
                  </a:cubicBezTo>
                  <a:close/>
                </a:path>
              </a:pathLst>
            </a:custGeom>
            <a:solidFill>
              <a:srgbClr val="C6C7C9"/>
            </a:solidFill>
          </p:spPr>
          <p:txBody>
            <a:bodyPr/>
            <a:lstStyle/>
            <a:p>
              <a:endParaRPr lang="zh-TW" altLang="en-US"/>
            </a:p>
          </p:txBody>
        </p:sp>
        <p:sp>
          <p:nvSpPr>
            <p:cNvPr id="8" name="TextBox 8"/>
            <p:cNvSpPr txBox="1"/>
            <p:nvPr/>
          </p:nvSpPr>
          <p:spPr>
            <a:xfrm>
              <a:off x="0" y="-38100"/>
              <a:ext cx="1430937" cy="354454"/>
            </a:xfrm>
            <a:prstGeom prst="rect">
              <a:avLst/>
            </a:prstGeom>
          </p:spPr>
          <p:txBody>
            <a:bodyPr lIns="56943" tIns="56943" rIns="56943" bIns="56943" rtlCol="0" anchor="ctr"/>
            <a:lstStyle/>
            <a:p>
              <a:pPr algn="ctr">
                <a:lnSpc>
                  <a:spcPts val="2659"/>
                </a:lnSpc>
              </a:pPr>
              <a:endParaRPr/>
            </a:p>
          </p:txBody>
        </p:sp>
      </p:grpSp>
      <p:sp>
        <p:nvSpPr>
          <p:cNvPr id="9" name="TextBox 9"/>
          <p:cNvSpPr txBox="1"/>
          <p:nvPr/>
        </p:nvSpPr>
        <p:spPr>
          <a:xfrm>
            <a:off x="1660890" y="5297315"/>
            <a:ext cx="6705145" cy="1750695"/>
          </a:xfrm>
          <a:prstGeom prst="rect">
            <a:avLst/>
          </a:prstGeom>
        </p:spPr>
        <p:txBody>
          <a:bodyPr lIns="0" tIns="0" rIns="0" bIns="0" rtlCol="0" anchor="t">
            <a:spAutoFit/>
          </a:bodyPr>
          <a:lstStyle/>
          <a:p>
            <a:pPr marL="690881" lvl="1" indent="-345440" algn="l">
              <a:lnSpc>
                <a:spcPts val="4896"/>
              </a:lnSpc>
              <a:buFont typeface="Arial"/>
              <a:buChar char="•"/>
            </a:pPr>
            <a:r>
              <a:rPr lang="en-US" sz="3200" b="1">
                <a:solidFill>
                  <a:srgbClr val="000000"/>
                </a:solidFill>
                <a:latin typeface="Alegreya Bold"/>
                <a:ea typeface="Alegreya Bold"/>
                <a:cs typeface="Alegreya Bold"/>
                <a:sym typeface="Alegreya Bold"/>
              </a:rPr>
              <a:t>Switch Style</a:t>
            </a:r>
          </a:p>
          <a:p>
            <a:pPr marL="690881" lvl="1" indent="-345440" algn="l">
              <a:lnSpc>
                <a:spcPts val="4896"/>
              </a:lnSpc>
              <a:buFont typeface="Arial"/>
              <a:buChar char="•"/>
            </a:pPr>
            <a:r>
              <a:rPr lang="en-US" sz="3200" b="1">
                <a:solidFill>
                  <a:srgbClr val="000000"/>
                </a:solidFill>
                <a:latin typeface="Alegreya Bold"/>
                <a:ea typeface="Alegreya Bold"/>
                <a:cs typeface="Alegreya Bold"/>
                <a:sym typeface="Alegreya Bold"/>
              </a:rPr>
              <a:t>Logic:</a:t>
            </a:r>
          </a:p>
          <a:p>
            <a:pPr algn="l">
              <a:lnSpc>
                <a:spcPts val="4283"/>
              </a:lnSpc>
            </a:pPr>
            <a:r>
              <a:rPr lang="en-US" sz="2799" b="1" i="1">
                <a:solidFill>
                  <a:srgbClr val="000000"/>
                </a:solidFill>
                <a:latin typeface="Alegreya Bold Italics"/>
                <a:ea typeface="Alegreya Bold Italics"/>
                <a:cs typeface="Alegreya Bold Italics"/>
                <a:sym typeface="Alegreya Bold Italics"/>
              </a:rPr>
              <a:t>         All four fingertips are above their base joints</a:t>
            </a:r>
          </a:p>
        </p:txBody>
      </p:sp>
      <p:sp>
        <p:nvSpPr>
          <p:cNvPr id="10" name="TextBox 10"/>
          <p:cNvSpPr txBox="1"/>
          <p:nvPr/>
        </p:nvSpPr>
        <p:spPr>
          <a:xfrm>
            <a:off x="2644013" y="511493"/>
            <a:ext cx="12999975" cy="2220825"/>
          </a:xfrm>
          <a:prstGeom prst="rect">
            <a:avLst/>
          </a:prstGeom>
        </p:spPr>
        <p:txBody>
          <a:bodyPr lIns="0" tIns="0" rIns="0" bIns="0" rtlCol="0" anchor="t">
            <a:spAutoFit/>
          </a:bodyPr>
          <a:lstStyle/>
          <a:p>
            <a:pPr algn="ctr">
              <a:lnSpc>
                <a:spcPts val="9752"/>
              </a:lnSpc>
            </a:pPr>
            <a:r>
              <a:rPr lang="en-US" sz="6965">
                <a:solidFill>
                  <a:srgbClr val="000000"/>
                </a:solidFill>
                <a:latin typeface="Bobby Jones"/>
                <a:ea typeface="Bobby Jones"/>
                <a:cs typeface="Bobby Jones"/>
                <a:sym typeface="Bobby Jones"/>
              </a:rPr>
              <a:t>Gesture Control Features </a:t>
            </a:r>
          </a:p>
          <a:p>
            <a:pPr algn="ctr">
              <a:lnSpc>
                <a:spcPts val="7932"/>
              </a:lnSpc>
            </a:pPr>
            <a:r>
              <a:rPr lang="en-US" sz="5665">
                <a:solidFill>
                  <a:srgbClr val="000000"/>
                </a:solidFill>
                <a:latin typeface="Bobby Jones"/>
                <a:ea typeface="Bobby Jones"/>
                <a:cs typeface="Bobby Jones"/>
                <a:sym typeface="Bobby Jones"/>
              </a:rPr>
              <a:t>(Using Mediapipe)</a:t>
            </a:r>
          </a:p>
        </p:txBody>
      </p:sp>
      <p:sp>
        <p:nvSpPr>
          <p:cNvPr id="11" name="TextBox 11"/>
          <p:cNvSpPr txBox="1"/>
          <p:nvPr/>
        </p:nvSpPr>
        <p:spPr>
          <a:xfrm>
            <a:off x="2985047" y="3392254"/>
            <a:ext cx="4056832" cy="968279"/>
          </a:xfrm>
          <a:prstGeom prst="rect">
            <a:avLst/>
          </a:prstGeom>
        </p:spPr>
        <p:txBody>
          <a:bodyPr lIns="0" tIns="0" rIns="0" bIns="0" rtlCol="0" anchor="t">
            <a:spAutoFit/>
          </a:bodyPr>
          <a:lstStyle/>
          <a:p>
            <a:pPr algn="ctr">
              <a:lnSpc>
                <a:spcPts val="7763"/>
              </a:lnSpc>
            </a:pPr>
            <a:r>
              <a:rPr lang="en-US" sz="5545">
                <a:solidFill>
                  <a:srgbClr val="000000"/>
                </a:solidFill>
                <a:latin typeface="Bobby Jones"/>
                <a:ea typeface="Bobby Jones"/>
                <a:cs typeface="Bobby Jones"/>
                <a:sym typeface="Bobby Jones"/>
              </a:rPr>
              <a:t>✋ Open Palm</a:t>
            </a:r>
          </a:p>
        </p:txBody>
      </p:sp>
      <p:grpSp>
        <p:nvGrpSpPr>
          <p:cNvPr id="12" name="Group 12"/>
          <p:cNvGrpSpPr/>
          <p:nvPr/>
        </p:nvGrpSpPr>
        <p:grpSpPr>
          <a:xfrm>
            <a:off x="9500725" y="4420209"/>
            <a:ext cx="7547625" cy="3630899"/>
            <a:chOff x="0" y="0"/>
            <a:chExt cx="1773390" cy="853116"/>
          </a:xfrm>
        </p:grpSpPr>
        <p:sp>
          <p:nvSpPr>
            <p:cNvPr id="13" name="Freeform 13"/>
            <p:cNvSpPr/>
            <p:nvPr/>
          </p:nvSpPr>
          <p:spPr>
            <a:xfrm>
              <a:off x="0" y="0"/>
              <a:ext cx="1773390" cy="853116"/>
            </a:xfrm>
            <a:custGeom>
              <a:avLst/>
              <a:gdLst/>
              <a:ahLst/>
              <a:cxnLst/>
              <a:rect l="l" t="t" r="r" b="b"/>
              <a:pathLst>
                <a:path w="1773390" h="853116">
                  <a:moveTo>
                    <a:pt x="52313" y="0"/>
                  </a:moveTo>
                  <a:lnTo>
                    <a:pt x="1721077" y="0"/>
                  </a:lnTo>
                  <a:cubicBezTo>
                    <a:pt x="1749968" y="0"/>
                    <a:pt x="1773390" y="23421"/>
                    <a:pt x="1773390" y="52313"/>
                  </a:cubicBezTo>
                  <a:lnTo>
                    <a:pt x="1773390" y="800803"/>
                  </a:lnTo>
                  <a:cubicBezTo>
                    <a:pt x="1773390" y="829695"/>
                    <a:pt x="1749968" y="853116"/>
                    <a:pt x="1721077" y="853116"/>
                  </a:cubicBezTo>
                  <a:lnTo>
                    <a:pt x="52313" y="853116"/>
                  </a:lnTo>
                  <a:cubicBezTo>
                    <a:pt x="23421" y="853116"/>
                    <a:pt x="0" y="829695"/>
                    <a:pt x="0" y="800803"/>
                  </a:cubicBezTo>
                  <a:lnTo>
                    <a:pt x="0" y="52313"/>
                  </a:lnTo>
                  <a:cubicBezTo>
                    <a:pt x="0" y="23421"/>
                    <a:pt x="23421" y="0"/>
                    <a:pt x="52313"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14" name="TextBox 14"/>
            <p:cNvSpPr txBox="1"/>
            <p:nvPr/>
          </p:nvSpPr>
          <p:spPr>
            <a:xfrm>
              <a:off x="0" y="-38100"/>
              <a:ext cx="1773390" cy="891216"/>
            </a:xfrm>
            <a:prstGeom prst="rect">
              <a:avLst/>
            </a:prstGeom>
          </p:spPr>
          <p:txBody>
            <a:bodyPr lIns="56943" tIns="56943" rIns="56943" bIns="56943" rtlCol="0" anchor="ctr"/>
            <a:lstStyle/>
            <a:p>
              <a:pPr algn="ctr">
                <a:lnSpc>
                  <a:spcPts val="2659"/>
                </a:lnSpc>
              </a:pPr>
              <a:endParaRPr/>
            </a:p>
          </p:txBody>
        </p:sp>
      </p:grpSp>
      <p:grpSp>
        <p:nvGrpSpPr>
          <p:cNvPr id="15" name="Group 15"/>
          <p:cNvGrpSpPr/>
          <p:nvPr/>
        </p:nvGrpSpPr>
        <p:grpSpPr>
          <a:xfrm>
            <a:off x="10229471" y="3265097"/>
            <a:ext cx="6090133" cy="1346419"/>
            <a:chOff x="0" y="0"/>
            <a:chExt cx="1430937" cy="316354"/>
          </a:xfrm>
        </p:grpSpPr>
        <p:sp>
          <p:nvSpPr>
            <p:cNvPr id="16" name="Freeform 16"/>
            <p:cNvSpPr/>
            <p:nvPr/>
          </p:nvSpPr>
          <p:spPr>
            <a:xfrm>
              <a:off x="0" y="0"/>
              <a:ext cx="1430937" cy="316355"/>
            </a:xfrm>
            <a:custGeom>
              <a:avLst/>
              <a:gdLst/>
              <a:ahLst/>
              <a:cxnLst/>
              <a:rect l="l" t="t" r="r" b="b"/>
              <a:pathLst>
                <a:path w="1430937" h="316355">
                  <a:moveTo>
                    <a:pt x="64832" y="0"/>
                  </a:moveTo>
                  <a:lnTo>
                    <a:pt x="1366105" y="0"/>
                  </a:lnTo>
                  <a:cubicBezTo>
                    <a:pt x="1401911" y="0"/>
                    <a:pt x="1430937" y="29026"/>
                    <a:pt x="1430937" y="64832"/>
                  </a:cubicBezTo>
                  <a:lnTo>
                    <a:pt x="1430937" y="251522"/>
                  </a:lnTo>
                  <a:cubicBezTo>
                    <a:pt x="1430937" y="268717"/>
                    <a:pt x="1424107" y="285207"/>
                    <a:pt x="1411949" y="297366"/>
                  </a:cubicBezTo>
                  <a:cubicBezTo>
                    <a:pt x="1399790" y="309524"/>
                    <a:pt x="1383300" y="316355"/>
                    <a:pt x="1366105" y="316355"/>
                  </a:cubicBezTo>
                  <a:lnTo>
                    <a:pt x="64832" y="316355"/>
                  </a:lnTo>
                  <a:cubicBezTo>
                    <a:pt x="47638" y="316355"/>
                    <a:pt x="31147" y="309524"/>
                    <a:pt x="18989" y="297366"/>
                  </a:cubicBezTo>
                  <a:cubicBezTo>
                    <a:pt x="6831" y="285207"/>
                    <a:pt x="0" y="268717"/>
                    <a:pt x="0" y="251522"/>
                  </a:cubicBezTo>
                  <a:lnTo>
                    <a:pt x="0" y="64832"/>
                  </a:lnTo>
                  <a:cubicBezTo>
                    <a:pt x="0" y="47638"/>
                    <a:pt x="6831" y="31147"/>
                    <a:pt x="18989" y="18989"/>
                  </a:cubicBezTo>
                  <a:cubicBezTo>
                    <a:pt x="31147" y="6831"/>
                    <a:pt x="47638" y="0"/>
                    <a:pt x="64832" y="0"/>
                  </a:cubicBezTo>
                  <a:close/>
                </a:path>
              </a:pathLst>
            </a:custGeom>
            <a:solidFill>
              <a:srgbClr val="C6C7C9"/>
            </a:solidFill>
          </p:spPr>
          <p:txBody>
            <a:bodyPr/>
            <a:lstStyle/>
            <a:p>
              <a:endParaRPr lang="zh-TW" altLang="en-US"/>
            </a:p>
          </p:txBody>
        </p:sp>
        <p:sp>
          <p:nvSpPr>
            <p:cNvPr id="17" name="TextBox 17"/>
            <p:cNvSpPr txBox="1"/>
            <p:nvPr/>
          </p:nvSpPr>
          <p:spPr>
            <a:xfrm>
              <a:off x="0" y="-38100"/>
              <a:ext cx="1430937" cy="354454"/>
            </a:xfrm>
            <a:prstGeom prst="rect">
              <a:avLst/>
            </a:prstGeom>
          </p:spPr>
          <p:txBody>
            <a:bodyPr lIns="56943" tIns="56943" rIns="56943" bIns="56943" rtlCol="0" anchor="ctr"/>
            <a:lstStyle/>
            <a:p>
              <a:pPr algn="ctr">
                <a:lnSpc>
                  <a:spcPts val="2659"/>
                </a:lnSpc>
              </a:pPr>
              <a:endParaRPr/>
            </a:p>
          </p:txBody>
        </p:sp>
      </p:grpSp>
      <p:sp>
        <p:nvSpPr>
          <p:cNvPr id="18" name="TextBox 18"/>
          <p:cNvSpPr txBox="1"/>
          <p:nvPr/>
        </p:nvSpPr>
        <p:spPr>
          <a:xfrm>
            <a:off x="9921965" y="4776067"/>
            <a:ext cx="6705145" cy="2912745"/>
          </a:xfrm>
          <a:prstGeom prst="rect">
            <a:avLst/>
          </a:prstGeom>
        </p:spPr>
        <p:txBody>
          <a:bodyPr lIns="0" tIns="0" rIns="0" bIns="0" rtlCol="0" anchor="t">
            <a:spAutoFit/>
          </a:bodyPr>
          <a:lstStyle/>
          <a:p>
            <a:pPr marL="690881" lvl="1" indent="-345440" algn="l">
              <a:lnSpc>
                <a:spcPts val="4896"/>
              </a:lnSpc>
              <a:buFont typeface="Arial"/>
              <a:buChar char="•"/>
            </a:pPr>
            <a:r>
              <a:rPr lang="en-US" sz="3200" b="1">
                <a:solidFill>
                  <a:srgbClr val="000000"/>
                </a:solidFill>
                <a:latin typeface="Alegreya Bold"/>
                <a:ea typeface="Alegreya Bold"/>
                <a:cs typeface="Alegreya Bold"/>
                <a:sym typeface="Alegreya Bold"/>
              </a:rPr>
              <a:t>Capture and save the current stylized frame as an image</a:t>
            </a:r>
          </a:p>
          <a:p>
            <a:pPr marL="690881" lvl="1" indent="-345440" algn="l">
              <a:lnSpc>
                <a:spcPts val="4896"/>
              </a:lnSpc>
              <a:buFont typeface="Arial"/>
              <a:buChar char="•"/>
            </a:pPr>
            <a:r>
              <a:rPr lang="en-US" sz="3200" b="1">
                <a:solidFill>
                  <a:srgbClr val="000000"/>
                </a:solidFill>
                <a:latin typeface="Alegreya Bold"/>
                <a:ea typeface="Alegreya Bold"/>
                <a:cs typeface="Alegreya Bold"/>
                <a:sym typeface="Alegreya Bold"/>
              </a:rPr>
              <a:t>Logic:</a:t>
            </a:r>
          </a:p>
          <a:p>
            <a:pPr algn="l">
              <a:lnSpc>
                <a:spcPts val="4284"/>
              </a:lnSpc>
            </a:pPr>
            <a:r>
              <a:rPr lang="en-US" sz="2800" b="1">
                <a:solidFill>
                  <a:srgbClr val="000000"/>
                </a:solidFill>
                <a:latin typeface="Alegreya Bold"/>
                <a:ea typeface="Alegreya Bold"/>
                <a:cs typeface="Alegreya Bold"/>
                <a:sym typeface="Alegreya Bold"/>
              </a:rPr>
              <a:t> </a:t>
            </a:r>
            <a:r>
              <a:rPr lang="en-US" sz="2800" b="1" i="1">
                <a:solidFill>
                  <a:srgbClr val="000000"/>
                </a:solidFill>
                <a:latin typeface="Alegreya Bold Italics"/>
                <a:ea typeface="Alegreya Bold Italics"/>
                <a:cs typeface="Alegreya Bold Italics"/>
                <a:sym typeface="Alegreya Bold Italics"/>
              </a:rPr>
              <a:t>       1. Index and middle fingers extended </a:t>
            </a:r>
          </a:p>
          <a:p>
            <a:pPr algn="l">
              <a:lnSpc>
                <a:spcPts val="4284"/>
              </a:lnSpc>
            </a:pPr>
            <a:r>
              <a:rPr lang="en-US" sz="2800" b="1" i="1">
                <a:solidFill>
                  <a:srgbClr val="000000"/>
                </a:solidFill>
                <a:latin typeface="Alegreya Bold Italics"/>
                <a:ea typeface="Alegreya Bold Italics"/>
                <a:cs typeface="Alegreya Bold Italics"/>
                <a:sym typeface="Alegreya Bold Italics"/>
              </a:rPr>
              <a:t>        2. Ring and pinky fingers folded </a:t>
            </a:r>
          </a:p>
        </p:txBody>
      </p:sp>
      <p:sp>
        <p:nvSpPr>
          <p:cNvPr id="19" name="TextBox 19"/>
          <p:cNvSpPr txBox="1"/>
          <p:nvPr/>
        </p:nvSpPr>
        <p:spPr>
          <a:xfrm>
            <a:off x="11246122" y="3392254"/>
            <a:ext cx="4056832" cy="968279"/>
          </a:xfrm>
          <a:prstGeom prst="rect">
            <a:avLst/>
          </a:prstGeom>
        </p:spPr>
        <p:txBody>
          <a:bodyPr lIns="0" tIns="0" rIns="0" bIns="0" rtlCol="0" anchor="t">
            <a:spAutoFit/>
          </a:bodyPr>
          <a:lstStyle/>
          <a:p>
            <a:pPr algn="ctr">
              <a:lnSpc>
                <a:spcPts val="7763"/>
              </a:lnSpc>
            </a:pPr>
            <a:r>
              <a:rPr lang="en-US" sz="5545">
                <a:solidFill>
                  <a:srgbClr val="000000"/>
                </a:solidFill>
                <a:latin typeface="Bobby Jones"/>
                <a:ea typeface="Bobby Jones"/>
                <a:cs typeface="Bobby Jones"/>
                <a:sym typeface="Bobby Jones"/>
              </a:rPr>
              <a:t>✌️ Scissor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sp>
        <p:nvSpPr>
          <p:cNvPr id="3" name="Freeform 3"/>
          <p:cNvSpPr/>
          <p:nvPr/>
        </p:nvSpPr>
        <p:spPr>
          <a:xfrm>
            <a:off x="2244262" y="3602081"/>
            <a:ext cx="7577203" cy="4887296"/>
          </a:xfrm>
          <a:custGeom>
            <a:avLst/>
            <a:gdLst/>
            <a:ahLst/>
            <a:cxnLst/>
            <a:rect l="l" t="t" r="r" b="b"/>
            <a:pathLst>
              <a:path w="7577203" h="4887296">
                <a:moveTo>
                  <a:pt x="0" y="0"/>
                </a:moveTo>
                <a:lnTo>
                  <a:pt x="7577202" y="0"/>
                </a:lnTo>
                <a:lnTo>
                  <a:pt x="7577202" y="4887296"/>
                </a:lnTo>
                <a:lnTo>
                  <a:pt x="0" y="4887296"/>
                </a:lnTo>
                <a:lnTo>
                  <a:pt x="0" y="0"/>
                </a:lnTo>
                <a:close/>
              </a:path>
            </a:pathLst>
          </a:custGeom>
          <a:blipFill>
            <a:blip r:embed="rId4"/>
            <a:stretch>
              <a:fillRect/>
            </a:stretch>
          </a:blipFill>
        </p:spPr>
        <p:txBody>
          <a:bodyPr/>
          <a:lstStyle/>
          <a:p>
            <a:endParaRPr lang="zh-TW" altLang="en-US"/>
          </a:p>
        </p:txBody>
      </p:sp>
      <p:sp>
        <p:nvSpPr>
          <p:cNvPr id="4" name="Freeform 4"/>
          <p:cNvSpPr/>
          <p:nvPr/>
        </p:nvSpPr>
        <p:spPr>
          <a:xfrm>
            <a:off x="10127839" y="3602081"/>
            <a:ext cx="6958184" cy="4887296"/>
          </a:xfrm>
          <a:custGeom>
            <a:avLst/>
            <a:gdLst/>
            <a:ahLst/>
            <a:cxnLst/>
            <a:rect l="l" t="t" r="r" b="b"/>
            <a:pathLst>
              <a:path w="6958184" h="4887296">
                <a:moveTo>
                  <a:pt x="0" y="0"/>
                </a:moveTo>
                <a:lnTo>
                  <a:pt x="6958184" y="0"/>
                </a:lnTo>
                <a:lnTo>
                  <a:pt x="6958184" y="4887296"/>
                </a:lnTo>
                <a:lnTo>
                  <a:pt x="0" y="4887296"/>
                </a:lnTo>
                <a:lnTo>
                  <a:pt x="0" y="0"/>
                </a:lnTo>
                <a:close/>
              </a:path>
            </a:pathLst>
          </a:custGeom>
          <a:blipFill>
            <a:blip r:embed="rId5"/>
            <a:stretch>
              <a:fillRect l="-11158" t="-17600" r="-7917" b="-9548"/>
            </a:stretch>
          </a:blipFill>
        </p:spPr>
        <p:txBody>
          <a:bodyPr/>
          <a:lstStyle/>
          <a:p>
            <a:endParaRPr lang="zh-TW" altLang="en-US"/>
          </a:p>
        </p:txBody>
      </p:sp>
      <p:sp>
        <p:nvSpPr>
          <p:cNvPr id="5" name="TextBox 5"/>
          <p:cNvSpPr txBox="1"/>
          <p:nvPr/>
        </p:nvSpPr>
        <p:spPr>
          <a:xfrm>
            <a:off x="3918390" y="857250"/>
            <a:ext cx="10451219" cy="2444115"/>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gui design</a:t>
            </a:r>
          </a:p>
          <a:p>
            <a:pPr algn="ctr">
              <a:lnSpc>
                <a:spcPts val="7840"/>
              </a:lnSpc>
            </a:pPr>
            <a:r>
              <a:rPr lang="en-US" sz="5600">
                <a:solidFill>
                  <a:srgbClr val="000000"/>
                </a:solidFill>
                <a:latin typeface="Bobby Jones"/>
                <a:ea typeface="Bobby Jones"/>
                <a:cs typeface="Bobby Jones"/>
                <a:sym typeface="Bobby Jones"/>
              </a:rPr>
              <a:t>(Using PyQt5)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2691138" y="3358912"/>
            <a:ext cx="12905724" cy="1662135"/>
          </a:xfrm>
          <a:prstGeom prst="rect">
            <a:avLst/>
          </a:prstGeom>
        </p:spPr>
        <p:txBody>
          <a:bodyPr lIns="0" tIns="0" rIns="0" bIns="0" rtlCol="0" anchor="t">
            <a:spAutoFit/>
          </a:bodyPr>
          <a:lstStyle/>
          <a:p>
            <a:pPr algn="ctr">
              <a:lnSpc>
                <a:spcPts val="13498"/>
              </a:lnSpc>
            </a:pPr>
            <a:r>
              <a:rPr lang="en-US" sz="9641">
                <a:solidFill>
                  <a:srgbClr val="000000"/>
                </a:solidFill>
                <a:latin typeface="Bobby Jones"/>
                <a:ea typeface="Bobby Jones"/>
                <a:cs typeface="Bobby Jones"/>
                <a:sym typeface="Bobby Jones"/>
              </a:rPr>
              <a:t>Problem solving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grpSp>
        <p:nvGrpSpPr>
          <p:cNvPr id="3" name="Group 3"/>
          <p:cNvGrpSpPr/>
          <p:nvPr/>
        </p:nvGrpSpPr>
        <p:grpSpPr>
          <a:xfrm>
            <a:off x="1542665" y="4457414"/>
            <a:ext cx="7189802" cy="4701409"/>
            <a:chOff x="0" y="0"/>
            <a:chExt cx="1893610" cy="1238231"/>
          </a:xfrm>
        </p:grpSpPr>
        <p:sp>
          <p:nvSpPr>
            <p:cNvPr id="4" name="Freeform 4"/>
            <p:cNvSpPr/>
            <p:nvPr/>
          </p:nvSpPr>
          <p:spPr>
            <a:xfrm>
              <a:off x="0" y="0"/>
              <a:ext cx="1893610" cy="1238231"/>
            </a:xfrm>
            <a:custGeom>
              <a:avLst/>
              <a:gdLst/>
              <a:ahLst/>
              <a:cxnLst/>
              <a:rect l="l" t="t" r="r" b="b"/>
              <a:pathLst>
                <a:path w="1893610" h="1238231">
                  <a:moveTo>
                    <a:pt x="54916" y="0"/>
                  </a:moveTo>
                  <a:lnTo>
                    <a:pt x="1838694" y="0"/>
                  </a:lnTo>
                  <a:cubicBezTo>
                    <a:pt x="1853259" y="0"/>
                    <a:pt x="1867227" y="5786"/>
                    <a:pt x="1877526" y="16085"/>
                  </a:cubicBezTo>
                  <a:cubicBezTo>
                    <a:pt x="1887824" y="26383"/>
                    <a:pt x="1893610" y="40352"/>
                    <a:pt x="1893610" y="54916"/>
                  </a:cubicBezTo>
                  <a:lnTo>
                    <a:pt x="1893610" y="1183315"/>
                  </a:lnTo>
                  <a:cubicBezTo>
                    <a:pt x="1893610" y="1197879"/>
                    <a:pt x="1887824" y="1211848"/>
                    <a:pt x="1877526" y="1222146"/>
                  </a:cubicBezTo>
                  <a:cubicBezTo>
                    <a:pt x="1867227" y="1232445"/>
                    <a:pt x="1853259" y="1238231"/>
                    <a:pt x="1838694" y="1238231"/>
                  </a:cubicBezTo>
                  <a:lnTo>
                    <a:pt x="54916" y="1238231"/>
                  </a:lnTo>
                  <a:cubicBezTo>
                    <a:pt x="40352" y="1238231"/>
                    <a:pt x="26383" y="1232445"/>
                    <a:pt x="16085" y="1222146"/>
                  </a:cubicBezTo>
                  <a:cubicBezTo>
                    <a:pt x="5786" y="1211848"/>
                    <a:pt x="0" y="1197879"/>
                    <a:pt x="0" y="1183315"/>
                  </a:cubicBezTo>
                  <a:lnTo>
                    <a:pt x="0" y="54916"/>
                  </a:lnTo>
                  <a:cubicBezTo>
                    <a:pt x="0" y="40352"/>
                    <a:pt x="5786" y="26383"/>
                    <a:pt x="16085" y="16085"/>
                  </a:cubicBezTo>
                  <a:cubicBezTo>
                    <a:pt x="26383" y="5786"/>
                    <a:pt x="40352" y="0"/>
                    <a:pt x="54916"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209550"/>
              <a:ext cx="1893610" cy="1447781"/>
            </a:xfrm>
            <a:prstGeom prst="rect">
              <a:avLst/>
            </a:prstGeom>
          </p:spPr>
          <p:txBody>
            <a:bodyPr lIns="127000" tIns="127000" rIns="127000" bIns="127000" rtlCol="0" anchor="ctr"/>
            <a:lstStyle/>
            <a:p>
              <a:pPr algn="l">
                <a:lnSpc>
                  <a:spcPts val="5599"/>
                </a:lnSpc>
              </a:pPr>
              <a:r>
                <a:rPr lang="en-US" sz="2799" b="1">
                  <a:solidFill>
                    <a:srgbClr val="000000"/>
                  </a:solidFill>
                  <a:latin typeface="Alegreya Bold"/>
                  <a:ea typeface="Alegreya Bold"/>
                  <a:cs typeface="Alegreya Bold"/>
                  <a:sym typeface="Alegreya Bold"/>
                </a:rPr>
                <a:t>1.Based on Internet</a:t>
              </a:r>
            </a:p>
            <a:p>
              <a:pPr algn="l">
                <a:lnSpc>
                  <a:spcPts val="5599"/>
                </a:lnSpc>
              </a:pPr>
              <a:r>
                <a:rPr lang="en-US" sz="2799" b="1">
                  <a:solidFill>
                    <a:srgbClr val="000000"/>
                  </a:solidFill>
                  <a:latin typeface="Alegreya Bold"/>
                  <a:ea typeface="Alegreya Bold"/>
                  <a:cs typeface="Alegreya Bold"/>
                  <a:sym typeface="Alegreya Bold"/>
                </a:rPr>
                <a:t>2.Rerun entire script on every user interaction</a:t>
              </a:r>
            </a:p>
            <a:p>
              <a:pPr algn="l">
                <a:lnSpc>
                  <a:spcPts val="5599"/>
                </a:lnSpc>
              </a:pPr>
              <a:r>
                <a:rPr lang="en-US" sz="2799" b="1">
                  <a:solidFill>
                    <a:srgbClr val="000000"/>
                  </a:solidFill>
                  <a:latin typeface="Alegreya Bold"/>
                  <a:ea typeface="Alegreya Bold"/>
                  <a:cs typeface="Alegreya Bold"/>
                  <a:sym typeface="Alegreya Bold"/>
                </a:rPr>
                <a:t>3.Lag when performing time-consuming tasks</a:t>
              </a:r>
            </a:p>
          </p:txBody>
        </p:sp>
      </p:grpSp>
      <p:grpSp>
        <p:nvGrpSpPr>
          <p:cNvPr id="6" name="Group 6"/>
          <p:cNvGrpSpPr/>
          <p:nvPr/>
        </p:nvGrpSpPr>
        <p:grpSpPr>
          <a:xfrm>
            <a:off x="2399303" y="3289967"/>
            <a:ext cx="5433091" cy="1543050"/>
            <a:chOff x="0" y="0"/>
            <a:chExt cx="1430937" cy="406400"/>
          </a:xfrm>
        </p:grpSpPr>
        <p:sp>
          <p:nvSpPr>
            <p:cNvPr id="7" name="Freeform 7"/>
            <p:cNvSpPr/>
            <p:nvPr/>
          </p:nvSpPr>
          <p:spPr>
            <a:xfrm>
              <a:off x="0" y="0"/>
              <a:ext cx="1430937" cy="406400"/>
            </a:xfrm>
            <a:custGeom>
              <a:avLst/>
              <a:gdLst/>
              <a:ahLst/>
              <a:cxnLst/>
              <a:rect l="l" t="t" r="r" b="b"/>
              <a:pathLst>
                <a:path w="1430937" h="406400">
                  <a:moveTo>
                    <a:pt x="72673" y="0"/>
                  </a:moveTo>
                  <a:lnTo>
                    <a:pt x="1358265" y="0"/>
                  </a:lnTo>
                  <a:cubicBezTo>
                    <a:pt x="1377539" y="0"/>
                    <a:pt x="1396023" y="7657"/>
                    <a:pt x="1409652" y="21285"/>
                  </a:cubicBezTo>
                  <a:cubicBezTo>
                    <a:pt x="1423281" y="34914"/>
                    <a:pt x="1430937" y="53399"/>
                    <a:pt x="1430937" y="72673"/>
                  </a:cubicBezTo>
                  <a:lnTo>
                    <a:pt x="1430937" y="333727"/>
                  </a:lnTo>
                  <a:cubicBezTo>
                    <a:pt x="1430937" y="353001"/>
                    <a:pt x="1423281" y="371486"/>
                    <a:pt x="1409652" y="385115"/>
                  </a:cubicBezTo>
                  <a:cubicBezTo>
                    <a:pt x="1396023" y="398743"/>
                    <a:pt x="1377539" y="406400"/>
                    <a:pt x="1358265" y="406400"/>
                  </a:cubicBezTo>
                  <a:lnTo>
                    <a:pt x="72673" y="406400"/>
                  </a:lnTo>
                  <a:cubicBezTo>
                    <a:pt x="53399" y="406400"/>
                    <a:pt x="34914" y="398743"/>
                    <a:pt x="21285" y="385115"/>
                  </a:cubicBezTo>
                  <a:cubicBezTo>
                    <a:pt x="7657" y="371486"/>
                    <a:pt x="0" y="353001"/>
                    <a:pt x="0" y="333727"/>
                  </a:cubicBezTo>
                  <a:lnTo>
                    <a:pt x="0" y="72673"/>
                  </a:lnTo>
                  <a:cubicBezTo>
                    <a:pt x="0" y="53399"/>
                    <a:pt x="7657" y="34914"/>
                    <a:pt x="21285" y="21285"/>
                  </a:cubicBezTo>
                  <a:cubicBezTo>
                    <a:pt x="34914" y="7657"/>
                    <a:pt x="53399" y="0"/>
                    <a:pt x="72673" y="0"/>
                  </a:cubicBezTo>
                  <a:close/>
                </a:path>
              </a:pathLst>
            </a:custGeom>
            <a:solidFill>
              <a:srgbClr val="C6C7C9"/>
            </a:solidFill>
          </p:spPr>
          <p:txBody>
            <a:bodyPr/>
            <a:lstStyle/>
            <a:p>
              <a:endParaRPr lang="zh-TW" altLang="en-US"/>
            </a:p>
          </p:txBody>
        </p:sp>
        <p:sp>
          <p:nvSpPr>
            <p:cNvPr id="8" name="TextBox 8"/>
            <p:cNvSpPr txBox="1"/>
            <p:nvPr/>
          </p:nvSpPr>
          <p:spPr>
            <a:xfrm>
              <a:off x="0" y="-38100"/>
              <a:ext cx="1430937" cy="4445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542665" y="3551269"/>
            <a:ext cx="7146367" cy="906145"/>
          </a:xfrm>
          <a:prstGeom prst="rect">
            <a:avLst/>
          </a:prstGeom>
        </p:spPr>
        <p:txBody>
          <a:bodyPr lIns="0" tIns="0" rIns="0" bIns="0" rtlCol="0" anchor="t">
            <a:spAutoFit/>
          </a:bodyPr>
          <a:lstStyle/>
          <a:p>
            <a:pPr algn="ctr">
              <a:lnSpc>
                <a:spcPts val="7279"/>
              </a:lnSpc>
            </a:pPr>
            <a:r>
              <a:rPr lang="en-US" sz="5199">
                <a:solidFill>
                  <a:srgbClr val="000000"/>
                </a:solidFill>
                <a:latin typeface="Bobby Jones"/>
                <a:ea typeface="Bobby Jones"/>
                <a:cs typeface="Bobby Jones"/>
                <a:sym typeface="Bobby Jones"/>
              </a:rPr>
              <a:t>Streamlit</a:t>
            </a:r>
          </a:p>
        </p:txBody>
      </p:sp>
      <p:grpSp>
        <p:nvGrpSpPr>
          <p:cNvPr id="10" name="Group 10"/>
          <p:cNvGrpSpPr/>
          <p:nvPr/>
        </p:nvGrpSpPr>
        <p:grpSpPr>
          <a:xfrm>
            <a:off x="9840232" y="4457414"/>
            <a:ext cx="7829646" cy="4701409"/>
            <a:chOff x="0" y="0"/>
            <a:chExt cx="2062129" cy="1238231"/>
          </a:xfrm>
        </p:grpSpPr>
        <p:sp>
          <p:nvSpPr>
            <p:cNvPr id="11" name="Freeform 11"/>
            <p:cNvSpPr/>
            <p:nvPr/>
          </p:nvSpPr>
          <p:spPr>
            <a:xfrm>
              <a:off x="0" y="0"/>
              <a:ext cx="2062129" cy="1238231"/>
            </a:xfrm>
            <a:custGeom>
              <a:avLst/>
              <a:gdLst/>
              <a:ahLst/>
              <a:cxnLst/>
              <a:rect l="l" t="t" r="r" b="b"/>
              <a:pathLst>
                <a:path w="2062129" h="1238231">
                  <a:moveTo>
                    <a:pt x="50429" y="0"/>
                  </a:moveTo>
                  <a:lnTo>
                    <a:pt x="2011700" y="0"/>
                  </a:lnTo>
                  <a:cubicBezTo>
                    <a:pt x="2025075" y="0"/>
                    <a:pt x="2037902" y="5313"/>
                    <a:pt x="2047359" y="14770"/>
                  </a:cubicBezTo>
                  <a:cubicBezTo>
                    <a:pt x="2056816" y="24227"/>
                    <a:pt x="2062129" y="37054"/>
                    <a:pt x="2062129" y="50429"/>
                  </a:cubicBezTo>
                  <a:lnTo>
                    <a:pt x="2062129" y="1187802"/>
                  </a:lnTo>
                  <a:cubicBezTo>
                    <a:pt x="2062129" y="1201177"/>
                    <a:pt x="2056816" y="1214004"/>
                    <a:pt x="2047359" y="1223461"/>
                  </a:cubicBezTo>
                  <a:cubicBezTo>
                    <a:pt x="2037902" y="1232918"/>
                    <a:pt x="2025075" y="1238231"/>
                    <a:pt x="2011700" y="1238231"/>
                  </a:cubicBezTo>
                  <a:lnTo>
                    <a:pt x="50429" y="1238231"/>
                  </a:lnTo>
                  <a:cubicBezTo>
                    <a:pt x="37054" y="1238231"/>
                    <a:pt x="24227" y="1232918"/>
                    <a:pt x="14770" y="1223461"/>
                  </a:cubicBezTo>
                  <a:cubicBezTo>
                    <a:pt x="5313" y="1214004"/>
                    <a:pt x="0" y="1201177"/>
                    <a:pt x="0" y="1187802"/>
                  </a:cubicBezTo>
                  <a:lnTo>
                    <a:pt x="0" y="50429"/>
                  </a:lnTo>
                  <a:cubicBezTo>
                    <a:pt x="0" y="37054"/>
                    <a:pt x="5313" y="24227"/>
                    <a:pt x="14770" y="14770"/>
                  </a:cubicBezTo>
                  <a:cubicBezTo>
                    <a:pt x="24227" y="5313"/>
                    <a:pt x="37054" y="0"/>
                    <a:pt x="5042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12" name="TextBox 12"/>
            <p:cNvSpPr txBox="1"/>
            <p:nvPr/>
          </p:nvSpPr>
          <p:spPr>
            <a:xfrm>
              <a:off x="0" y="-209550"/>
              <a:ext cx="2062129" cy="1447781"/>
            </a:xfrm>
            <a:prstGeom prst="rect">
              <a:avLst/>
            </a:prstGeom>
          </p:spPr>
          <p:txBody>
            <a:bodyPr lIns="50800" tIns="50800" rIns="50800" bIns="50800" rtlCol="0" anchor="ctr"/>
            <a:lstStyle/>
            <a:p>
              <a:pPr algn="l">
                <a:lnSpc>
                  <a:spcPts val="5599"/>
                </a:lnSpc>
              </a:pPr>
              <a:r>
                <a:rPr lang="en-US" sz="2799" b="1">
                  <a:solidFill>
                    <a:srgbClr val="000000"/>
                  </a:solidFill>
                  <a:latin typeface="Alegreya Bold"/>
                  <a:ea typeface="Alegreya Bold"/>
                  <a:cs typeface="Alegreya Bold"/>
                  <a:sym typeface="Alegreya Bold"/>
                </a:rPr>
                <a:t>1.Can be executed offline</a:t>
              </a:r>
            </a:p>
            <a:p>
              <a:pPr algn="l">
                <a:lnSpc>
                  <a:spcPts val="5599"/>
                </a:lnSpc>
              </a:pPr>
              <a:r>
                <a:rPr lang="en-US" sz="2799" b="1">
                  <a:solidFill>
                    <a:srgbClr val="000000"/>
                  </a:solidFill>
                  <a:latin typeface="Alegreya Bold"/>
                  <a:ea typeface="Alegreya Bold"/>
                  <a:cs typeface="Alegreya Bold"/>
                  <a:sym typeface="Alegreya Bold"/>
                </a:rPr>
                <a:t>2.Works better on OpenCV and hardware</a:t>
              </a:r>
            </a:p>
            <a:p>
              <a:pPr algn="l">
                <a:lnSpc>
                  <a:spcPts val="5599"/>
                </a:lnSpc>
              </a:pPr>
              <a:r>
                <a:rPr lang="en-US" sz="2799" b="1">
                  <a:solidFill>
                    <a:srgbClr val="000000"/>
                  </a:solidFill>
                  <a:latin typeface="Alegreya Bold"/>
                  <a:ea typeface="Alegreya Bold"/>
                  <a:cs typeface="Alegreya Bold"/>
                  <a:sym typeface="Alegreya Bold"/>
                </a:rPr>
                <a:t>3.Support multithreading / asynchronous execution</a:t>
              </a:r>
            </a:p>
          </p:txBody>
        </p:sp>
      </p:grpSp>
      <p:grpSp>
        <p:nvGrpSpPr>
          <p:cNvPr id="13" name="Group 13"/>
          <p:cNvGrpSpPr/>
          <p:nvPr/>
        </p:nvGrpSpPr>
        <p:grpSpPr>
          <a:xfrm>
            <a:off x="11038509" y="3289967"/>
            <a:ext cx="5433091" cy="1543050"/>
            <a:chOff x="0" y="0"/>
            <a:chExt cx="1430937" cy="406400"/>
          </a:xfrm>
        </p:grpSpPr>
        <p:sp>
          <p:nvSpPr>
            <p:cNvPr id="14" name="Freeform 14"/>
            <p:cNvSpPr/>
            <p:nvPr/>
          </p:nvSpPr>
          <p:spPr>
            <a:xfrm>
              <a:off x="0" y="0"/>
              <a:ext cx="1430937" cy="406400"/>
            </a:xfrm>
            <a:custGeom>
              <a:avLst/>
              <a:gdLst/>
              <a:ahLst/>
              <a:cxnLst/>
              <a:rect l="l" t="t" r="r" b="b"/>
              <a:pathLst>
                <a:path w="1430937" h="406400">
                  <a:moveTo>
                    <a:pt x="72673" y="0"/>
                  </a:moveTo>
                  <a:lnTo>
                    <a:pt x="1358265" y="0"/>
                  </a:lnTo>
                  <a:cubicBezTo>
                    <a:pt x="1377539" y="0"/>
                    <a:pt x="1396023" y="7657"/>
                    <a:pt x="1409652" y="21285"/>
                  </a:cubicBezTo>
                  <a:cubicBezTo>
                    <a:pt x="1423281" y="34914"/>
                    <a:pt x="1430937" y="53399"/>
                    <a:pt x="1430937" y="72673"/>
                  </a:cubicBezTo>
                  <a:lnTo>
                    <a:pt x="1430937" y="333727"/>
                  </a:lnTo>
                  <a:cubicBezTo>
                    <a:pt x="1430937" y="353001"/>
                    <a:pt x="1423281" y="371486"/>
                    <a:pt x="1409652" y="385115"/>
                  </a:cubicBezTo>
                  <a:cubicBezTo>
                    <a:pt x="1396023" y="398743"/>
                    <a:pt x="1377539" y="406400"/>
                    <a:pt x="1358265" y="406400"/>
                  </a:cubicBezTo>
                  <a:lnTo>
                    <a:pt x="72673" y="406400"/>
                  </a:lnTo>
                  <a:cubicBezTo>
                    <a:pt x="53399" y="406400"/>
                    <a:pt x="34914" y="398743"/>
                    <a:pt x="21285" y="385115"/>
                  </a:cubicBezTo>
                  <a:cubicBezTo>
                    <a:pt x="7657" y="371486"/>
                    <a:pt x="0" y="353001"/>
                    <a:pt x="0" y="333727"/>
                  </a:cubicBezTo>
                  <a:lnTo>
                    <a:pt x="0" y="72673"/>
                  </a:lnTo>
                  <a:cubicBezTo>
                    <a:pt x="0" y="53399"/>
                    <a:pt x="7657" y="34914"/>
                    <a:pt x="21285" y="21285"/>
                  </a:cubicBezTo>
                  <a:cubicBezTo>
                    <a:pt x="34914" y="7657"/>
                    <a:pt x="53399" y="0"/>
                    <a:pt x="72673" y="0"/>
                  </a:cubicBezTo>
                  <a:close/>
                </a:path>
              </a:pathLst>
            </a:custGeom>
            <a:solidFill>
              <a:srgbClr val="C6C7C9"/>
            </a:solidFill>
          </p:spPr>
          <p:txBody>
            <a:bodyPr/>
            <a:lstStyle/>
            <a:p>
              <a:endParaRPr lang="zh-TW" altLang="en-US"/>
            </a:p>
          </p:txBody>
        </p:sp>
        <p:sp>
          <p:nvSpPr>
            <p:cNvPr id="15" name="TextBox 15"/>
            <p:cNvSpPr txBox="1"/>
            <p:nvPr/>
          </p:nvSpPr>
          <p:spPr>
            <a:xfrm>
              <a:off x="0" y="-38100"/>
              <a:ext cx="1430937" cy="4445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181871" y="3551269"/>
            <a:ext cx="7146367" cy="906145"/>
          </a:xfrm>
          <a:prstGeom prst="rect">
            <a:avLst/>
          </a:prstGeom>
        </p:spPr>
        <p:txBody>
          <a:bodyPr lIns="0" tIns="0" rIns="0" bIns="0" rtlCol="0" anchor="t">
            <a:spAutoFit/>
          </a:bodyPr>
          <a:lstStyle/>
          <a:p>
            <a:pPr algn="ctr">
              <a:lnSpc>
                <a:spcPts val="7279"/>
              </a:lnSpc>
            </a:pPr>
            <a:r>
              <a:rPr lang="en-US" sz="5199">
                <a:solidFill>
                  <a:srgbClr val="000000"/>
                </a:solidFill>
                <a:latin typeface="Bobby Jones"/>
                <a:ea typeface="Bobby Jones"/>
                <a:cs typeface="Bobby Jones"/>
                <a:sym typeface="Bobby Jones"/>
              </a:rPr>
              <a:t>Pyqt5</a:t>
            </a:r>
          </a:p>
        </p:txBody>
      </p:sp>
      <p:sp>
        <p:nvSpPr>
          <p:cNvPr id="17" name="AutoShape 17"/>
          <p:cNvSpPr/>
          <p:nvPr/>
        </p:nvSpPr>
        <p:spPr>
          <a:xfrm>
            <a:off x="7832394" y="4061492"/>
            <a:ext cx="3206115" cy="0"/>
          </a:xfrm>
          <a:prstGeom prst="line">
            <a:avLst/>
          </a:prstGeom>
          <a:ln w="142875" cap="flat">
            <a:solidFill>
              <a:srgbClr val="5271FF"/>
            </a:solidFill>
            <a:prstDash val="solid"/>
            <a:headEnd type="none" w="sm" len="sm"/>
            <a:tailEnd type="arrow" w="med" len="sm"/>
          </a:ln>
        </p:spPr>
        <p:txBody>
          <a:bodyPr/>
          <a:lstStyle/>
          <a:p>
            <a:endParaRPr lang="zh-TW" altLang="en-US"/>
          </a:p>
        </p:txBody>
      </p:sp>
      <p:sp>
        <p:nvSpPr>
          <p:cNvPr id="18" name="Freeform 18"/>
          <p:cNvSpPr/>
          <p:nvPr/>
        </p:nvSpPr>
        <p:spPr>
          <a:xfrm>
            <a:off x="2615193" y="3665569"/>
            <a:ext cx="915139" cy="829306"/>
          </a:xfrm>
          <a:custGeom>
            <a:avLst/>
            <a:gdLst/>
            <a:ahLst/>
            <a:cxnLst/>
            <a:rect l="l" t="t" r="r" b="b"/>
            <a:pathLst>
              <a:path w="915139" h="829306">
                <a:moveTo>
                  <a:pt x="0" y="0"/>
                </a:moveTo>
                <a:lnTo>
                  <a:pt x="915139" y="0"/>
                </a:lnTo>
                <a:lnTo>
                  <a:pt x="915139" y="829306"/>
                </a:lnTo>
                <a:lnTo>
                  <a:pt x="0" y="8293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Freeform 19"/>
          <p:cNvSpPr/>
          <p:nvPr/>
        </p:nvSpPr>
        <p:spPr>
          <a:xfrm>
            <a:off x="11423986" y="3468832"/>
            <a:ext cx="1279788" cy="1185319"/>
          </a:xfrm>
          <a:custGeom>
            <a:avLst/>
            <a:gdLst/>
            <a:ahLst/>
            <a:cxnLst/>
            <a:rect l="l" t="t" r="r" b="b"/>
            <a:pathLst>
              <a:path w="1279788" h="1185319">
                <a:moveTo>
                  <a:pt x="0" y="0"/>
                </a:moveTo>
                <a:lnTo>
                  <a:pt x="1279789" y="0"/>
                </a:lnTo>
                <a:lnTo>
                  <a:pt x="1279789" y="1185319"/>
                </a:lnTo>
                <a:lnTo>
                  <a:pt x="0" y="11853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20" name="TextBox 20"/>
          <p:cNvSpPr txBox="1"/>
          <p:nvPr/>
        </p:nvSpPr>
        <p:spPr>
          <a:xfrm>
            <a:off x="3679044" y="847725"/>
            <a:ext cx="10929913" cy="1419243"/>
          </a:xfrm>
          <a:prstGeom prst="rect">
            <a:avLst/>
          </a:prstGeom>
        </p:spPr>
        <p:txBody>
          <a:bodyPr lIns="0" tIns="0" rIns="0" bIns="0" rtlCol="0" anchor="t">
            <a:spAutoFit/>
          </a:bodyPr>
          <a:lstStyle/>
          <a:p>
            <a:pPr algn="ctr">
              <a:lnSpc>
                <a:spcPts val="11432"/>
              </a:lnSpc>
            </a:pPr>
            <a:r>
              <a:rPr lang="en-US" sz="8165">
                <a:solidFill>
                  <a:srgbClr val="000000"/>
                </a:solidFill>
                <a:latin typeface="Bobby Jones"/>
                <a:ea typeface="Bobby Jones"/>
                <a:cs typeface="Bobby Jones"/>
                <a:sym typeface="Bobby Jones"/>
              </a:rPr>
              <a:t>Streamlit to Pyqt5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grpSp>
        <p:nvGrpSpPr>
          <p:cNvPr id="3" name="Group 3"/>
          <p:cNvGrpSpPr/>
          <p:nvPr/>
        </p:nvGrpSpPr>
        <p:grpSpPr>
          <a:xfrm>
            <a:off x="1028700" y="3311156"/>
            <a:ext cx="6362549" cy="5414858"/>
            <a:chOff x="0" y="0"/>
            <a:chExt cx="2034244" cy="1731247"/>
          </a:xfrm>
        </p:grpSpPr>
        <p:sp>
          <p:nvSpPr>
            <p:cNvPr id="4" name="Freeform 4"/>
            <p:cNvSpPr/>
            <p:nvPr/>
          </p:nvSpPr>
          <p:spPr>
            <a:xfrm>
              <a:off x="0" y="0"/>
              <a:ext cx="2034244" cy="1731247"/>
            </a:xfrm>
            <a:custGeom>
              <a:avLst/>
              <a:gdLst/>
              <a:ahLst/>
              <a:cxnLst/>
              <a:rect l="l" t="t" r="r" b="b"/>
              <a:pathLst>
                <a:path w="2034244" h="1731247">
                  <a:moveTo>
                    <a:pt x="62057" y="0"/>
                  </a:moveTo>
                  <a:lnTo>
                    <a:pt x="1972188" y="0"/>
                  </a:lnTo>
                  <a:cubicBezTo>
                    <a:pt x="2006460" y="0"/>
                    <a:pt x="2034244" y="27784"/>
                    <a:pt x="2034244" y="62057"/>
                  </a:cubicBezTo>
                  <a:lnTo>
                    <a:pt x="2034244" y="1669191"/>
                  </a:lnTo>
                  <a:cubicBezTo>
                    <a:pt x="2034244" y="1703463"/>
                    <a:pt x="2006460" y="1731247"/>
                    <a:pt x="1972188" y="1731247"/>
                  </a:cubicBezTo>
                  <a:lnTo>
                    <a:pt x="62057" y="1731247"/>
                  </a:lnTo>
                  <a:cubicBezTo>
                    <a:pt x="27784" y="1731247"/>
                    <a:pt x="0" y="1703463"/>
                    <a:pt x="0" y="1669191"/>
                  </a:cubicBezTo>
                  <a:lnTo>
                    <a:pt x="0" y="62057"/>
                  </a:lnTo>
                  <a:cubicBezTo>
                    <a:pt x="0" y="27784"/>
                    <a:pt x="27784" y="0"/>
                    <a:pt x="62057"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2034244" cy="176934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896751" y="3317876"/>
            <a:ext cx="6362549" cy="5408138"/>
            <a:chOff x="0" y="0"/>
            <a:chExt cx="2034244" cy="1729099"/>
          </a:xfrm>
        </p:grpSpPr>
        <p:sp>
          <p:nvSpPr>
            <p:cNvPr id="7" name="Freeform 7"/>
            <p:cNvSpPr/>
            <p:nvPr/>
          </p:nvSpPr>
          <p:spPr>
            <a:xfrm>
              <a:off x="0" y="0"/>
              <a:ext cx="2034244" cy="1729099"/>
            </a:xfrm>
            <a:custGeom>
              <a:avLst/>
              <a:gdLst/>
              <a:ahLst/>
              <a:cxnLst/>
              <a:rect l="l" t="t" r="r" b="b"/>
              <a:pathLst>
                <a:path w="2034244" h="1729099">
                  <a:moveTo>
                    <a:pt x="62057" y="0"/>
                  </a:moveTo>
                  <a:lnTo>
                    <a:pt x="1972188" y="0"/>
                  </a:lnTo>
                  <a:cubicBezTo>
                    <a:pt x="2006460" y="0"/>
                    <a:pt x="2034244" y="27784"/>
                    <a:pt x="2034244" y="62057"/>
                  </a:cubicBezTo>
                  <a:lnTo>
                    <a:pt x="2034244" y="1667042"/>
                  </a:lnTo>
                  <a:cubicBezTo>
                    <a:pt x="2034244" y="1701315"/>
                    <a:pt x="2006460" y="1729099"/>
                    <a:pt x="1972188" y="1729099"/>
                  </a:cubicBezTo>
                  <a:lnTo>
                    <a:pt x="62057" y="1729099"/>
                  </a:lnTo>
                  <a:cubicBezTo>
                    <a:pt x="27784" y="1729099"/>
                    <a:pt x="0" y="1701315"/>
                    <a:pt x="0" y="1667042"/>
                  </a:cubicBezTo>
                  <a:lnTo>
                    <a:pt x="0" y="62057"/>
                  </a:lnTo>
                  <a:cubicBezTo>
                    <a:pt x="0" y="27784"/>
                    <a:pt x="27784" y="0"/>
                    <a:pt x="62057"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8" name="TextBox 8"/>
            <p:cNvSpPr txBox="1"/>
            <p:nvPr/>
          </p:nvSpPr>
          <p:spPr>
            <a:xfrm>
              <a:off x="0" y="-38100"/>
              <a:ext cx="2034244" cy="1767199"/>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7520940" y="6018585"/>
            <a:ext cx="3246120" cy="0"/>
          </a:xfrm>
          <a:prstGeom prst="line">
            <a:avLst/>
          </a:prstGeom>
          <a:ln w="266700" cap="flat">
            <a:solidFill>
              <a:srgbClr val="000000"/>
            </a:solidFill>
            <a:prstDash val="solid"/>
            <a:headEnd type="none" w="sm" len="sm"/>
            <a:tailEnd type="arrow" w="med" len="sm"/>
          </a:ln>
        </p:spPr>
        <p:txBody>
          <a:bodyPr/>
          <a:lstStyle/>
          <a:p>
            <a:endParaRPr lang="zh-TW" altLang="en-US"/>
          </a:p>
        </p:txBody>
      </p:sp>
      <p:sp>
        <p:nvSpPr>
          <p:cNvPr id="10" name="Freeform 10"/>
          <p:cNvSpPr/>
          <p:nvPr/>
        </p:nvSpPr>
        <p:spPr>
          <a:xfrm>
            <a:off x="1444335" y="5143500"/>
            <a:ext cx="5531280" cy="3111345"/>
          </a:xfrm>
          <a:custGeom>
            <a:avLst/>
            <a:gdLst/>
            <a:ahLst/>
            <a:cxnLst/>
            <a:rect l="l" t="t" r="r" b="b"/>
            <a:pathLst>
              <a:path w="5531280" h="3111345">
                <a:moveTo>
                  <a:pt x="0" y="0"/>
                </a:moveTo>
                <a:lnTo>
                  <a:pt x="5531279" y="0"/>
                </a:lnTo>
                <a:lnTo>
                  <a:pt x="5531279" y="3111345"/>
                </a:lnTo>
                <a:lnTo>
                  <a:pt x="0" y="3111345"/>
                </a:lnTo>
                <a:lnTo>
                  <a:pt x="0" y="0"/>
                </a:lnTo>
                <a:close/>
              </a:path>
            </a:pathLst>
          </a:custGeom>
          <a:blipFill>
            <a:blip r:embed="rId3"/>
            <a:stretch>
              <a:fillRect/>
            </a:stretch>
          </a:blipFill>
        </p:spPr>
        <p:txBody>
          <a:bodyPr/>
          <a:lstStyle/>
          <a:p>
            <a:endParaRPr lang="zh-TW" altLang="en-US"/>
          </a:p>
        </p:txBody>
      </p:sp>
      <p:sp>
        <p:nvSpPr>
          <p:cNvPr id="11" name="Freeform 11"/>
          <p:cNvSpPr/>
          <p:nvPr/>
        </p:nvSpPr>
        <p:spPr>
          <a:xfrm>
            <a:off x="12445359" y="4989511"/>
            <a:ext cx="3265334" cy="3265334"/>
          </a:xfrm>
          <a:custGeom>
            <a:avLst/>
            <a:gdLst/>
            <a:ahLst/>
            <a:cxnLst/>
            <a:rect l="l" t="t" r="r" b="b"/>
            <a:pathLst>
              <a:path w="3265334" h="3265334">
                <a:moveTo>
                  <a:pt x="0" y="0"/>
                </a:moveTo>
                <a:lnTo>
                  <a:pt x="3265334" y="0"/>
                </a:lnTo>
                <a:lnTo>
                  <a:pt x="3265334" y="3265334"/>
                </a:lnTo>
                <a:lnTo>
                  <a:pt x="0" y="3265334"/>
                </a:lnTo>
                <a:lnTo>
                  <a:pt x="0" y="0"/>
                </a:lnTo>
                <a:close/>
              </a:path>
            </a:pathLst>
          </a:custGeom>
          <a:blipFill>
            <a:blip r:embed="rId4"/>
            <a:stretch>
              <a:fillRect/>
            </a:stretch>
          </a:blipFill>
        </p:spPr>
        <p:txBody>
          <a:bodyPr/>
          <a:lstStyle/>
          <a:p>
            <a:endParaRPr lang="zh-TW" altLang="en-US"/>
          </a:p>
        </p:txBody>
      </p:sp>
      <p:sp>
        <p:nvSpPr>
          <p:cNvPr id="12" name="TextBox 12"/>
          <p:cNvSpPr txBox="1"/>
          <p:nvPr/>
        </p:nvSpPr>
        <p:spPr>
          <a:xfrm>
            <a:off x="1339658" y="3692208"/>
            <a:ext cx="5573713" cy="962660"/>
          </a:xfrm>
          <a:prstGeom prst="rect">
            <a:avLst/>
          </a:prstGeom>
        </p:spPr>
        <p:txBody>
          <a:bodyPr lIns="0" tIns="0" rIns="0" bIns="0" rtlCol="0" anchor="t">
            <a:spAutoFit/>
          </a:bodyPr>
          <a:lstStyle/>
          <a:p>
            <a:pPr algn="ctr">
              <a:lnSpc>
                <a:spcPts val="7840"/>
              </a:lnSpc>
            </a:pPr>
            <a:r>
              <a:rPr lang="en-US" sz="5600" b="1">
                <a:solidFill>
                  <a:srgbClr val="000000"/>
                </a:solidFill>
                <a:latin typeface="Alegreya Bold"/>
                <a:ea typeface="Alegreya Bold"/>
                <a:cs typeface="Alegreya Bold"/>
                <a:sym typeface="Alegreya Bold"/>
              </a:rPr>
              <a:t>Tensorflow Hub</a:t>
            </a:r>
          </a:p>
        </p:txBody>
      </p:sp>
      <p:sp>
        <p:nvSpPr>
          <p:cNvPr id="13" name="TextBox 13"/>
          <p:cNvSpPr txBox="1"/>
          <p:nvPr/>
        </p:nvSpPr>
        <p:spPr>
          <a:xfrm>
            <a:off x="3918390" y="857250"/>
            <a:ext cx="10451219"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HUB to Local</a:t>
            </a:r>
          </a:p>
        </p:txBody>
      </p:sp>
      <p:sp>
        <p:nvSpPr>
          <p:cNvPr id="14" name="TextBox 14"/>
          <p:cNvSpPr txBox="1"/>
          <p:nvPr/>
        </p:nvSpPr>
        <p:spPr>
          <a:xfrm>
            <a:off x="11207709" y="3698927"/>
            <a:ext cx="5573713" cy="962660"/>
          </a:xfrm>
          <a:prstGeom prst="rect">
            <a:avLst/>
          </a:prstGeom>
        </p:spPr>
        <p:txBody>
          <a:bodyPr lIns="0" tIns="0" rIns="0" bIns="0" rtlCol="0" anchor="t">
            <a:spAutoFit/>
          </a:bodyPr>
          <a:lstStyle/>
          <a:p>
            <a:pPr algn="ctr">
              <a:lnSpc>
                <a:spcPts val="7840"/>
              </a:lnSpc>
            </a:pPr>
            <a:r>
              <a:rPr lang="en-US" sz="5600" b="1">
                <a:solidFill>
                  <a:srgbClr val="000000"/>
                </a:solidFill>
                <a:latin typeface="Alegreya Bold"/>
                <a:ea typeface="Alegreya Bold"/>
                <a:cs typeface="Alegreya Bold"/>
                <a:sym typeface="Alegreya Bold"/>
              </a:rPr>
              <a:t>Saved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grpSp>
        <p:nvGrpSpPr>
          <p:cNvPr id="3" name="Group 3"/>
          <p:cNvGrpSpPr/>
          <p:nvPr/>
        </p:nvGrpSpPr>
        <p:grpSpPr>
          <a:xfrm>
            <a:off x="754619" y="4457275"/>
            <a:ext cx="3681594" cy="3129339"/>
            <a:chOff x="0" y="0"/>
            <a:chExt cx="2034244" cy="1729099"/>
          </a:xfrm>
        </p:grpSpPr>
        <p:sp>
          <p:nvSpPr>
            <p:cNvPr id="4" name="Freeform 4"/>
            <p:cNvSpPr/>
            <p:nvPr/>
          </p:nvSpPr>
          <p:spPr>
            <a:xfrm>
              <a:off x="0" y="0"/>
              <a:ext cx="2034244" cy="1729099"/>
            </a:xfrm>
            <a:custGeom>
              <a:avLst/>
              <a:gdLst/>
              <a:ahLst/>
              <a:cxnLst/>
              <a:rect l="l" t="t" r="r" b="b"/>
              <a:pathLst>
                <a:path w="2034244" h="1729099">
                  <a:moveTo>
                    <a:pt x="107246" y="0"/>
                  </a:moveTo>
                  <a:lnTo>
                    <a:pt x="1926998" y="0"/>
                  </a:lnTo>
                  <a:cubicBezTo>
                    <a:pt x="1955441" y="0"/>
                    <a:pt x="1982720" y="11299"/>
                    <a:pt x="2002832" y="31412"/>
                  </a:cubicBezTo>
                  <a:cubicBezTo>
                    <a:pt x="2022945" y="51524"/>
                    <a:pt x="2034244" y="78803"/>
                    <a:pt x="2034244" y="107246"/>
                  </a:cubicBezTo>
                  <a:lnTo>
                    <a:pt x="2034244" y="1621852"/>
                  </a:lnTo>
                  <a:cubicBezTo>
                    <a:pt x="2034244" y="1650296"/>
                    <a:pt x="2022945" y="1677574"/>
                    <a:pt x="2002832" y="1697687"/>
                  </a:cubicBezTo>
                  <a:cubicBezTo>
                    <a:pt x="1982720" y="1717799"/>
                    <a:pt x="1955441" y="1729099"/>
                    <a:pt x="1926998" y="1729099"/>
                  </a:cubicBezTo>
                  <a:lnTo>
                    <a:pt x="107246" y="1729099"/>
                  </a:lnTo>
                  <a:cubicBezTo>
                    <a:pt x="48016" y="1729099"/>
                    <a:pt x="0" y="1681083"/>
                    <a:pt x="0" y="1621852"/>
                  </a:cubicBezTo>
                  <a:lnTo>
                    <a:pt x="0" y="107246"/>
                  </a:lnTo>
                  <a:cubicBezTo>
                    <a:pt x="0" y="48016"/>
                    <a:pt x="48016" y="0"/>
                    <a:pt x="107246"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2034244" cy="176719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650698" y="5424542"/>
            <a:ext cx="1889437" cy="1889437"/>
          </a:xfrm>
          <a:custGeom>
            <a:avLst/>
            <a:gdLst/>
            <a:ahLst/>
            <a:cxnLst/>
            <a:rect l="l" t="t" r="r" b="b"/>
            <a:pathLst>
              <a:path w="1889437" h="1889437">
                <a:moveTo>
                  <a:pt x="0" y="0"/>
                </a:moveTo>
                <a:lnTo>
                  <a:pt x="1889437" y="0"/>
                </a:lnTo>
                <a:lnTo>
                  <a:pt x="1889437" y="1889437"/>
                </a:lnTo>
                <a:lnTo>
                  <a:pt x="0" y="1889437"/>
                </a:lnTo>
                <a:lnTo>
                  <a:pt x="0" y="0"/>
                </a:lnTo>
                <a:close/>
              </a:path>
            </a:pathLst>
          </a:custGeom>
          <a:blipFill>
            <a:blip r:embed="rId3"/>
            <a:stretch>
              <a:fillRect/>
            </a:stretch>
          </a:blipFill>
        </p:spPr>
        <p:txBody>
          <a:bodyPr/>
          <a:lstStyle/>
          <a:p>
            <a:endParaRPr lang="zh-TW" altLang="en-US"/>
          </a:p>
        </p:txBody>
      </p:sp>
      <p:grpSp>
        <p:nvGrpSpPr>
          <p:cNvPr id="7" name="Group 7"/>
          <p:cNvGrpSpPr/>
          <p:nvPr/>
        </p:nvGrpSpPr>
        <p:grpSpPr>
          <a:xfrm>
            <a:off x="5645888" y="4478031"/>
            <a:ext cx="5315977" cy="3129339"/>
            <a:chOff x="0" y="0"/>
            <a:chExt cx="2937313" cy="1729099"/>
          </a:xfrm>
        </p:grpSpPr>
        <p:sp>
          <p:nvSpPr>
            <p:cNvPr id="8" name="Freeform 8"/>
            <p:cNvSpPr/>
            <p:nvPr/>
          </p:nvSpPr>
          <p:spPr>
            <a:xfrm>
              <a:off x="0" y="0"/>
              <a:ext cx="2937313" cy="1729099"/>
            </a:xfrm>
            <a:custGeom>
              <a:avLst/>
              <a:gdLst/>
              <a:ahLst/>
              <a:cxnLst/>
              <a:rect l="l" t="t" r="r" b="b"/>
              <a:pathLst>
                <a:path w="2937313" h="1729099">
                  <a:moveTo>
                    <a:pt x="74274" y="0"/>
                  </a:moveTo>
                  <a:lnTo>
                    <a:pt x="2863040" y="0"/>
                  </a:lnTo>
                  <a:cubicBezTo>
                    <a:pt x="2882738" y="0"/>
                    <a:pt x="2901630" y="7825"/>
                    <a:pt x="2915559" y="21754"/>
                  </a:cubicBezTo>
                  <a:cubicBezTo>
                    <a:pt x="2929488" y="35683"/>
                    <a:pt x="2937313" y="54575"/>
                    <a:pt x="2937313" y="74274"/>
                  </a:cubicBezTo>
                  <a:lnTo>
                    <a:pt x="2937313" y="1654825"/>
                  </a:lnTo>
                  <a:cubicBezTo>
                    <a:pt x="2937313" y="1674523"/>
                    <a:pt x="2929488" y="1693415"/>
                    <a:pt x="2915559" y="1707344"/>
                  </a:cubicBezTo>
                  <a:cubicBezTo>
                    <a:pt x="2901630" y="1721273"/>
                    <a:pt x="2882738" y="1729099"/>
                    <a:pt x="2863040" y="1729099"/>
                  </a:cubicBezTo>
                  <a:lnTo>
                    <a:pt x="74274" y="1729099"/>
                  </a:lnTo>
                  <a:cubicBezTo>
                    <a:pt x="54575" y="1729099"/>
                    <a:pt x="35683" y="1721273"/>
                    <a:pt x="21754" y="1707344"/>
                  </a:cubicBezTo>
                  <a:cubicBezTo>
                    <a:pt x="7825" y="1693415"/>
                    <a:pt x="0" y="1674523"/>
                    <a:pt x="0" y="1654825"/>
                  </a:cubicBezTo>
                  <a:lnTo>
                    <a:pt x="0" y="74274"/>
                  </a:lnTo>
                  <a:cubicBezTo>
                    <a:pt x="0" y="54575"/>
                    <a:pt x="7825" y="35683"/>
                    <a:pt x="21754" y="21754"/>
                  </a:cubicBezTo>
                  <a:cubicBezTo>
                    <a:pt x="35683" y="7825"/>
                    <a:pt x="54575" y="0"/>
                    <a:pt x="74274"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9" name="TextBox 9"/>
            <p:cNvSpPr txBox="1"/>
            <p:nvPr/>
          </p:nvSpPr>
          <p:spPr>
            <a:xfrm>
              <a:off x="0" y="-38100"/>
              <a:ext cx="2937313" cy="176719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7395649" y="5414696"/>
            <a:ext cx="1913042" cy="1913042"/>
          </a:xfrm>
          <a:custGeom>
            <a:avLst/>
            <a:gdLst/>
            <a:ahLst/>
            <a:cxnLst/>
            <a:rect l="l" t="t" r="r" b="b"/>
            <a:pathLst>
              <a:path w="1913042" h="1913042">
                <a:moveTo>
                  <a:pt x="0" y="0"/>
                </a:moveTo>
                <a:lnTo>
                  <a:pt x="1913042" y="0"/>
                </a:lnTo>
                <a:lnTo>
                  <a:pt x="1913042" y="1913042"/>
                </a:lnTo>
                <a:lnTo>
                  <a:pt x="0" y="1913042"/>
                </a:lnTo>
                <a:lnTo>
                  <a:pt x="0" y="0"/>
                </a:lnTo>
                <a:close/>
              </a:path>
            </a:pathLst>
          </a:custGeom>
          <a:blipFill>
            <a:blip r:embed="rId4"/>
            <a:stretch>
              <a:fillRect/>
            </a:stretch>
          </a:blipFill>
        </p:spPr>
        <p:txBody>
          <a:bodyPr/>
          <a:lstStyle/>
          <a:p>
            <a:endParaRPr lang="zh-TW" altLang="en-US"/>
          </a:p>
        </p:txBody>
      </p:sp>
      <p:grpSp>
        <p:nvGrpSpPr>
          <p:cNvPr id="11" name="Group 11"/>
          <p:cNvGrpSpPr/>
          <p:nvPr/>
        </p:nvGrpSpPr>
        <p:grpSpPr>
          <a:xfrm>
            <a:off x="12174185" y="4457275"/>
            <a:ext cx="5817655" cy="3129339"/>
            <a:chOff x="0" y="0"/>
            <a:chExt cx="3214513" cy="1729099"/>
          </a:xfrm>
        </p:grpSpPr>
        <p:sp>
          <p:nvSpPr>
            <p:cNvPr id="12" name="Freeform 12"/>
            <p:cNvSpPr/>
            <p:nvPr/>
          </p:nvSpPr>
          <p:spPr>
            <a:xfrm>
              <a:off x="0" y="0"/>
              <a:ext cx="3214513" cy="1729099"/>
            </a:xfrm>
            <a:custGeom>
              <a:avLst/>
              <a:gdLst/>
              <a:ahLst/>
              <a:cxnLst/>
              <a:rect l="l" t="t" r="r" b="b"/>
              <a:pathLst>
                <a:path w="3214513" h="1729099">
                  <a:moveTo>
                    <a:pt x="67869" y="0"/>
                  </a:moveTo>
                  <a:lnTo>
                    <a:pt x="3146644" y="0"/>
                  </a:lnTo>
                  <a:cubicBezTo>
                    <a:pt x="3184127" y="0"/>
                    <a:pt x="3214513" y="30386"/>
                    <a:pt x="3214513" y="67869"/>
                  </a:cubicBezTo>
                  <a:lnTo>
                    <a:pt x="3214513" y="1661230"/>
                  </a:lnTo>
                  <a:cubicBezTo>
                    <a:pt x="3214513" y="1679229"/>
                    <a:pt x="3207362" y="1696492"/>
                    <a:pt x="3194634" y="1709220"/>
                  </a:cubicBezTo>
                  <a:cubicBezTo>
                    <a:pt x="3181907" y="1721948"/>
                    <a:pt x="3164644" y="1729099"/>
                    <a:pt x="3146644" y="1729099"/>
                  </a:cubicBezTo>
                  <a:lnTo>
                    <a:pt x="67869" y="1729099"/>
                  </a:lnTo>
                  <a:cubicBezTo>
                    <a:pt x="30386" y="1729099"/>
                    <a:pt x="0" y="1698713"/>
                    <a:pt x="0" y="1661230"/>
                  </a:cubicBezTo>
                  <a:lnTo>
                    <a:pt x="0" y="67869"/>
                  </a:lnTo>
                  <a:cubicBezTo>
                    <a:pt x="0" y="49869"/>
                    <a:pt x="7150" y="32606"/>
                    <a:pt x="19878" y="19878"/>
                  </a:cubicBezTo>
                  <a:cubicBezTo>
                    <a:pt x="32606" y="7150"/>
                    <a:pt x="49869" y="0"/>
                    <a:pt x="6786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13" name="TextBox 13"/>
            <p:cNvSpPr txBox="1"/>
            <p:nvPr/>
          </p:nvSpPr>
          <p:spPr>
            <a:xfrm>
              <a:off x="0" y="-38100"/>
              <a:ext cx="3214513" cy="1767199"/>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2451255" y="4785181"/>
            <a:ext cx="5085115" cy="2542558"/>
          </a:xfrm>
          <a:custGeom>
            <a:avLst/>
            <a:gdLst/>
            <a:ahLst/>
            <a:cxnLst/>
            <a:rect l="l" t="t" r="r" b="b"/>
            <a:pathLst>
              <a:path w="5085115" h="2542558">
                <a:moveTo>
                  <a:pt x="0" y="0"/>
                </a:moveTo>
                <a:lnTo>
                  <a:pt x="5085115" y="0"/>
                </a:lnTo>
                <a:lnTo>
                  <a:pt x="5085115" y="2542557"/>
                </a:lnTo>
                <a:lnTo>
                  <a:pt x="0" y="2542557"/>
                </a:lnTo>
                <a:lnTo>
                  <a:pt x="0" y="0"/>
                </a:lnTo>
                <a:close/>
              </a:path>
            </a:pathLst>
          </a:custGeom>
          <a:blipFill>
            <a:blip r:embed="rId5"/>
            <a:stretch>
              <a:fillRect/>
            </a:stretch>
          </a:blipFill>
        </p:spPr>
        <p:txBody>
          <a:bodyPr/>
          <a:lstStyle/>
          <a:p>
            <a:endParaRPr lang="zh-TW" altLang="en-US"/>
          </a:p>
        </p:txBody>
      </p:sp>
      <p:sp>
        <p:nvSpPr>
          <p:cNvPr id="15" name="TextBox 15"/>
          <p:cNvSpPr txBox="1"/>
          <p:nvPr/>
        </p:nvSpPr>
        <p:spPr>
          <a:xfrm>
            <a:off x="2473545" y="857250"/>
            <a:ext cx="13340910"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ONNX runtime cudaprovider</a:t>
            </a:r>
          </a:p>
        </p:txBody>
      </p:sp>
      <p:sp>
        <p:nvSpPr>
          <p:cNvPr id="16" name="TextBox 16"/>
          <p:cNvSpPr txBox="1"/>
          <p:nvPr/>
        </p:nvSpPr>
        <p:spPr>
          <a:xfrm>
            <a:off x="934550" y="4677228"/>
            <a:ext cx="3225146" cy="557566"/>
          </a:xfrm>
          <a:prstGeom prst="rect">
            <a:avLst/>
          </a:prstGeom>
        </p:spPr>
        <p:txBody>
          <a:bodyPr lIns="0" tIns="0" rIns="0" bIns="0" rtlCol="0" anchor="t">
            <a:spAutoFit/>
          </a:bodyPr>
          <a:lstStyle/>
          <a:p>
            <a:pPr algn="ctr">
              <a:lnSpc>
                <a:spcPts val="4536"/>
              </a:lnSpc>
            </a:pPr>
            <a:r>
              <a:rPr lang="en-US" sz="3240" b="1">
                <a:solidFill>
                  <a:srgbClr val="000000"/>
                </a:solidFill>
                <a:latin typeface="Alegreya Bold"/>
                <a:ea typeface="Alegreya Bold"/>
                <a:cs typeface="Alegreya Bold"/>
                <a:sym typeface="Alegreya Bold"/>
              </a:rPr>
              <a:t>Saved Model</a:t>
            </a:r>
          </a:p>
        </p:txBody>
      </p:sp>
      <p:sp>
        <p:nvSpPr>
          <p:cNvPr id="17" name="TextBox 17"/>
          <p:cNvSpPr txBox="1"/>
          <p:nvPr/>
        </p:nvSpPr>
        <p:spPr>
          <a:xfrm>
            <a:off x="6691304" y="4690987"/>
            <a:ext cx="3225146" cy="557566"/>
          </a:xfrm>
          <a:prstGeom prst="rect">
            <a:avLst/>
          </a:prstGeom>
        </p:spPr>
        <p:txBody>
          <a:bodyPr lIns="0" tIns="0" rIns="0" bIns="0" rtlCol="0" anchor="t">
            <a:spAutoFit/>
          </a:bodyPr>
          <a:lstStyle/>
          <a:p>
            <a:pPr algn="ctr">
              <a:lnSpc>
                <a:spcPts val="4536"/>
              </a:lnSpc>
            </a:pPr>
            <a:r>
              <a:rPr lang="en-US" sz="3240" b="1">
                <a:solidFill>
                  <a:srgbClr val="000000"/>
                </a:solidFill>
                <a:latin typeface="Alegreya Bold"/>
                <a:ea typeface="Alegreya Bold"/>
                <a:cs typeface="Alegreya Bold"/>
                <a:sym typeface="Alegreya Bold"/>
              </a:rPr>
              <a:t>ONNX Model</a:t>
            </a:r>
          </a:p>
        </p:txBody>
      </p:sp>
      <p:sp>
        <p:nvSpPr>
          <p:cNvPr id="18" name="AutoShape 18"/>
          <p:cNvSpPr/>
          <p:nvPr/>
        </p:nvSpPr>
        <p:spPr>
          <a:xfrm>
            <a:off x="4489874" y="6021945"/>
            <a:ext cx="1108390" cy="0"/>
          </a:xfrm>
          <a:prstGeom prst="line">
            <a:avLst/>
          </a:prstGeom>
          <a:ln w="123825" cap="flat">
            <a:solidFill>
              <a:srgbClr val="000000"/>
            </a:solidFill>
            <a:prstDash val="solid"/>
            <a:headEnd type="none" w="sm" len="sm"/>
            <a:tailEnd type="arrow" w="med" len="sm"/>
          </a:ln>
        </p:spPr>
        <p:txBody>
          <a:bodyPr/>
          <a:lstStyle/>
          <a:p>
            <a:endParaRPr lang="zh-TW" altLang="en-US"/>
          </a:p>
        </p:txBody>
      </p:sp>
      <p:sp>
        <p:nvSpPr>
          <p:cNvPr id="19" name="AutoShape 19"/>
          <p:cNvSpPr/>
          <p:nvPr/>
        </p:nvSpPr>
        <p:spPr>
          <a:xfrm>
            <a:off x="11009491" y="6042700"/>
            <a:ext cx="1108390" cy="0"/>
          </a:xfrm>
          <a:prstGeom prst="line">
            <a:avLst/>
          </a:prstGeom>
          <a:ln w="123825" cap="flat">
            <a:solidFill>
              <a:srgbClr val="000000"/>
            </a:solidFill>
            <a:prstDash val="solid"/>
            <a:headEnd type="none" w="sm" len="sm"/>
            <a:tailEnd type="arrow" w="med" len="sm"/>
          </a:ln>
        </p:spPr>
        <p:txBody>
          <a:bodyPr/>
          <a:lstStyle/>
          <a:p>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grpSp>
        <p:nvGrpSpPr>
          <p:cNvPr id="3" name="Group 3"/>
          <p:cNvGrpSpPr/>
          <p:nvPr/>
        </p:nvGrpSpPr>
        <p:grpSpPr>
          <a:xfrm>
            <a:off x="3211850" y="3189684"/>
            <a:ext cx="11864301" cy="5542016"/>
            <a:chOff x="0" y="0"/>
            <a:chExt cx="2937313" cy="1372069"/>
          </a:xfrm>
        </p:grpSpPr>
        <p:sp>
          <p:nvSpPr>
            <p:cNvPr id="4" name="Freeform 4"/>
            <p:cNvSpPr/>
            <p:nvPr/>
          </p:nvSpPr>
          <p:spPr>
            <a:xfrm>
              <a:off x="0" y="0"/>
              <a:ext cx="2937313" cy="1372069"/>
            </a:xfrm>
            <a:custGeom>
              <a:avLst/>
              <a:gdLst/>
              <a:ahLst/>
              <a:cxnLst/>
              <a:rect l="l" t="t" r="r" b="b"/>
              <a:pathLst>
                <a:path w="2937313" h="1372069">
                  <a:moveTo>
                    <a:pt x="33279" y="0"/>
                  </a:moveTo>
                  <a:lnTo>
                    <a:pt x="2904034" y="0"/>
                  </a:lnTo>
                  <a:cubicBezTo>
                    <a:pt x="2912860" y="0"/>
                    <a:pt x="2921325" y="3506"/>
                    <a:pt x="2927566" y="9747"/>
                  </a:cubicBezTo>
                  <a:cubicBezTo>
                    <a:pt x="2933807" y="15988"/>
                    <a:pt x="2937313" y="24453"/>
                    <a:pt x="2937313" y="33279"/>
                  </a:cubicBezTo>
                  <a:lnTo>
                    <a:pt x="2937313" y="1338789"/>
                  </a:lnTo>
                  <a:cubicBezTo>
                    <a:pt x="2937313" y="1347616"/>
                    <a:pt x="2933807" y="1356080"/>
                    <a:pt x="2927566" y="1362321"/>
                  </a:cubicBezTo>
                  <a:cubicBezTo>
                    <a:pt x="2921325" y="1368563"/>
                    <a:pt x="2912860" y="1372069"/>
                    <a:pt x="2904034" y="1372069"/>
                  </a:cubicBezTo>
                  <a:lnTo>
                    <a:pt x="33279" y="1372069"/>
                  </a:lnTo>
                  <a:cubicBezTo>
                    <a:pt x="24453" y="1372069"/>
                    <a:pt x="15988" y="1368563"/>
                    <a:pt x="9747" y="1362321"/>
                  </a:cubicBezTo>
                  <a:cubicBezTo>
                    <a:pt x="3506" y="1356080"/>
                    <a:pt x="0" y="1347616"/>
                    <a:pt x="0" y="1338789"/>
                  </a:cubicBezTo>
                  <a:lnTo>
                    <a:pt x="0" y="33279"/>
                  </a:lnTo>
                  <a:cubicBezTo>
                    <a:pt x="0" y="24453"/>
                    <a:pt x="3506" y="15988"/>
                    <a:pt x="9747" y="9747"/>
                  </a:cubicBezTo>
                  <a:cubicBezTo>
                    <a:pt x="15988" y="3506"/>
                    <a:pt x="24453" y="0"/>
                    <a:pt x="33279"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2937313" cy="1410169"/>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572428" y="857250"/>
            <a:ext cx="13143145"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ONNX runtime cudaprovider</a:t>
            </a:r>
          </a:p>
        </p:txBody>
      </p:sp>
      <p:sp>
        <p:nvSpPr>
          <p:cNvPr id="7" name="TextBox 7"/>
          <p:cNvSpPr txBox="1"/>
          <p:nvPr/>
        </p:nvSpPr>
        <p:spPr>
          <a:xfrm>
            <a:off x="3918390" y="3995137"/>
            <a:ext cx="9882123" cy="3788235"/>
          </a:xfrm>
          <a:prstGeom prst="rect">
            <a:avLst/>
          </a:prstGeom>
        </p:spPr>
        <p:txBody>
          <a:bodyPr lIns="0" tIns="0" rIns="0" bIns="0" rtlCol="0" anchor="t">
            <a:spAutoFit/>
          </a:bodyPr>
          <a:lstStyle/>
          <a:p>
            <a:pPr marL="1561367" lvl="1" indent="-780683" algn="l">
              <a:lnSpc>
                <a:spcPts val="10124"/>
              </a:lnSpc>
              <a:buFont typeface="Arial"/>
              <a:buChar char="•"/>
            </a:pPr>
            <a:r>
              <a:rPr lang="en-US" sz="7231" b="1">
                <a:solidFill>
                  <a:srgbClr val="000000"/>
                </a:solidFill>
                <a:latin typeface="Alegreya Bold"/>
                <a:ea typeface="Alegreya Bold"/>
                <a:cs typeface="Alegreya Bold"/>
                <a:sym typeface="Alegreya Bold"/>
              </a:rPr>
              <a:t>faster model loading</a:t>
            </a:r>
          </a:p>
          <a:p>
            <a:pPr marL="1561367" lvl="1" indent="-780683" algn="l">
              <a:lnSpc>
                <a:spcPts val="10124"/>
              </a:lnSpc>
              <a:buFont typeface="Arial"/>
              <a:buChar char="•"/>
            </a:pPr>
            <a:r>
              <a:rPr lang="en-US" sz="7231" b="1">
                <a:solidFill>
                  <a:srgbClr val="000000"/>
                </a:solidFill>
                <a:latin typeface="Alegreya Bold"/>
                <a:ea typeface="Alegreya Bold"/>
                <a:cs typeface="Alegreya Bold"/>
                <a:sym typeface="Alegreya Bold"/>
              </a:rPr>
              <a:t>faster inference</a:t>
            </a:r>
          </a:p>
          <a:p>
            <a:pPr marL="1561367" lvl="1" indent="-780683" algn="l">
              <a:lnSpc>
                <a:spcPts val="10124"/>
              </a:lnSpc>
              <a:buFont typeface="Arial"/>
              <a:buChar char="•"/>
            </a:pPr>
            <a:r>
              <a:rPr lang="en-US" sz="7231" b="1">
                <a:solidFill>
                  <a:srgbClr val="000000"/>
                </a:solidFill>
                <a:latin typeface="Alegreya Bold"/>
                <a:ea typeface="Alegreya Bold"/>
                <a:cs typeface="Alegreya Bold"/>
                <a:sym typeface="Alegreya Bold"/>
              </a:rPr>
              <a:t>hardware accelerate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3918390" y="857250"/>
            <a:ext cx="10451219" cy="142044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About GESTUrE</a:t>
            </a:r>
          </a:p>
        </p:txBody>
      </p:sp>
      <p:grpSp>
        <p:nvGrpSpPr>
          <p:cNvPr id="4" name="Group 4"/>
          <p:cNvGrpSpPr/>
          <p:nvPr/>
        </p:nvGrpSpPr>
        <p:grpSpPr>
          <a:xfrm>
            <a:off x="858683" y="3007499"/>
            <a:ext cx="16570635" cy="5792032"/>
            <a:chOff x="0" y="0"/>
            <a:chExt cx="4364282" cy="1525473"/>
          </a:xfrm>
        </p:grpSpPr>
        <p:sp>
          <p:nvSpPr>
            <p:cNvPr id="5" name="Freeform 5"/>
            <p:cNvSpPr/>
            <p:nvPr/>
          </p:nvSpPr>
          <p:spPr>
            <a:xfrm>
              <a:off x="0" y="0"/>
              <a:ext cx="4364282" cy="1525473"/>
            </a:xfrm>
            <a:custGeom>
              <a:avLst/>
              <a:gdLst/>
              <a:ahLst/>
              <a:cxnLst/>
              <a:rect l="l" t="t" r="r" b="b"/>
              <a:pathLst>
                <a:path w="4364282" h="1525473">
                  <a:moveTo>
                    <a:pt x="23828" y="0"/>
                  </a:moveTo>
                  <a:lnTo>
                    <a:pt x="4340455" y="0"/>
                  </a:lnTo>
                  <a:cubicBezTo>
                    <a:pt x="4346774" y="0"/>
                    <a:pt x="4352835" y="2510"/>
                    <a:pt x="4357303" y="6979"/>
                  </a:cubicBezTo>
                  <a:cubicBezTo>
                    <a:pt x="4361772" y="11447"/>
                    <a:pt x="4364282" y="17508"/>
                    <a:pt x="4364282" y="23828"/>
                  </a:cubicBezTo>
                  <a:lnTo>
                    <a:pt x="4364282" y="1501646"/>
                  </a:lnTo>
                  <a:cubicBezTo>
                    <a:pt x="4364282" y="1514805"/>
                    <a:pt x="4353614" y="1525473"/>
                    <a:pt x="4340455" y="1525473"/>
                  </a:cubicBezTo>
                  <a:lnTo>
                    <a:pt x="23828" y="1525473"/>
                  </a:lnTo>
                  <a:cubicBezTo>
                    <a:pt x="17508" y="1525473"/>
                    <a:pt x="11447" y="1522963"/>
                    <a:pt x="6979" y="1518494"/>
                  </a:cubicBezTo>
                  <a:cubicBezTo>
                    <a:pt x="2510" y="1514026"/>
                    <a:pt x="0" y="1507965"/>
                    <a:pt x="0" y="1501646"/>
                  </a:cubicBezTo>
                  <a:lnTo>
                    <a:pt x="0" y="23828"/>
                  </a:lnTo>
                  <a:cubicBezTo>
                    <a:pt x="0" y="17508"/>
                    <a:pt x="2510" y="11447"/>
                    <a:pt x="6979" y="6979"/>
                  </a:cubicBezTo>
                  <a:cubicBezTo>
                    <a:pt x="11447" y="2510"/>
                    <a:pt x="17508" y="0"/>
                    <a:pt x="23828"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6" name="TextBox 6"/>
            <p:cNvSpPr txBox="1"/>
            <p:nvPr/>
          </p:nvSpPr>
          <p:spPr>
            <a:xfrm>
              <a:off x="0" y="-38100"/>
              <a:ext cx="4364282" cy="1563573"/>
            </a:xfrm>
            <a:prstGeom prst="rect">
              <a:avLst/>
            </a:prstGeom>
          </p:spPr>
          <p:txBody>
            <a:bodyPr lIns="50800" tIns="50800" rIns="50800" bIns="50800" rtlCol="0" anchor="ctr"/>
            <a:lstStyle/>
            <a:p>
              <a:pPr algn="l">
                <a:lnSpc>
                  <a:spcPts val="2659"/>
                </a:lnSpc>
                <a:spcBef>
                  <a:spcPct val="0"/>
                </a:spcBef>
              </a:pPr>
              <a:endParaRPr/>
            </a:p>
          </p:txBody>
        </p:sp>
      </p:grpSp>
      <p:sp>
        <p:nvSpPr>
          <p:cNvPr id="7" name="TextBox 7"/>
          <p:cNvSpPr txBox="1"/>
          <p:nvPr/>
        </p:nvSpPr>
        <p:spPr>
          <a:xfrm>
            <a:off x="858683" y="3232885"/>
            <a:ext cx="16570635" cy="4950734"/>
          </a:xfrm>
          <a:prstGeom prst="rect">
            <a:avLst/>
          </a:prstGeom>
        </p:spPr>
        <p:txBody>
          <a:bodyPr lIns="0" tIns="0" rIns="0" bIns="0" rtlCol="0" anchor="t">
            <a:spAutoFit/>
          </a:bodyPr>
          <a:lstStyle/>
          <a:p>
            <a:pPr marL="1138977" lvl="1" indent="-569489" algn="l">
              <a:lnSpc>
                <a:spcPts val="10023"/>
              </a:lnSpc>
              <a:buFont typeface="Arial"/>
              <a:buChar char="•"/>
            </a:pPr>
            <a:r>
              <a:rPr lang="en-US" sz="5275" b="1">
                <a:solidFill>
                  <a:srgbClr val="000000"/>
                </a:solidFill>
                <a:latin typeface="Alegreya Bold"/>
                <a:ea typeface="Alegreya Bold"/>
                <a:cs typeface="Alegreya Bold"/>
                <a:sym typeface="Alegreya Bold"/>
              </a:rPr>
              <a:t>Gestrue Cooldown：Only detect gesture once a time.</a:t>
            </a:r>
          </a:p>
          <a:p>
            <a:pPr marL="1138977" lvl="1" indent="-569489" algn="l">
              <a:lnSpc>
                <a:spcPts val="10023"/>
              </a:lnSpc>
              <a:buFont typeface="Arial"/>
              <a:buChar char="•"/>
            </a:pPr>
            <a:r>
              <a:rPr lang="en-US" sz="5275" b="1">
                <a:solidFill>
                  <a:srgbClr val="000000"/>
                </a:solidFill>
                <a:latin typeface="Alegreya Bold"/>
                <a:ea typeface="Alegreya Bold"/>
                <a:cs typeface="Alegreya Bold"/>
                <a:sym typeface="Alegreya Bold"/>
              </a:rPr>
              <a:t>Photo Delay：Let user choose their photo pose at ease.</a:t>
            </a:r>
          </a:p>
          <a:p>
            <a:pPr marL="1138977" lvl="1" indent="-569489" algn="l">
              <a:lnSpc>
                <a:spcPts val="10023"/>
              </a:lnSpc>
              <a:buFont typeface="Arial"/>
              <a:buChar char="•"/>
            </a:pPr>
            <a:r>
              <a:rPr lang="en-US" sz="5275" b="1">
                <a:solidFill>
                  <a:srgbClr val="000000"/>
                </a:solidFill>
                <a:latin typeface="Alegreya Bold"/>
                <a:ea typeface="Alegreya Bold"/>
                <a:cs typeface="Alegreya Bold"/>
                <a:sym typeface="Alegreya Bold"/>
              </a:rPr>
              <a:t>Accurate Judgement：Stricter criteria to prevent misclassification.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2691138" y="3358912"/>
            <a:ext cx="12905724" cy="3369152"/>
          </a:xfrm>
          <a:prstGeom prst="rect">
            <a:avLst/>
          </a:prstGeom>
        </p:spPr>
        <p:txBody>
          <a:bodyPr lIns="0" tIns="0" rIns="0" bIns="0" rtlCol="0" anchor="t">
            <a:spAutoFit/>
          </a:bodyPr>
          <a:lstStyle/>
          <a:p>
            <a:pPr algn="ctr">
              <a:lnSpc>
                <a:spcPts val="13498"/>
              </a:lnSpc>
            </a:pPr>
            <a:r>
              <a:rPr lang="en-US" sz="9641">
                <a:solidFill>
                  <a:srgbClr val="000000"/>
                </a:solidFill>
                <a:latin typeface="Bobby Jones"/>
                <a:ea typeface="Bobby Jones"/>
                <a:cs typeface="Bobby Jones"/>
                <a:sym typeface="Bobby Jones"/>
              </a:rPr>
              <a:t>Some Additional Experiments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grpSp>
        <p:nvGrpSpPr>
          <p:cNvPr id="3" name="Group 3"/>
          <p:cNvGrpSpPr/>
          <p:nvPr/>
        </p:nvGrpSpPr>
        <p:grpSpPr>
          <a:xfrm>
            <a:off x="584018" y="2790493"/>
            <a:ext cx="17119964" cy="7112306"/>
            <a:chOff x="0" y="0"/>
            <a:chExt cx="4238488" cy="1760835"/>
          </a:xfrm>
        </p:grpSpPr>
        <p:sp>
          <p:nvSpPr>
            <p:cNvPr id="4" name="Freeform 4"/>
            <p:cNvSpPr/>
            <p:nvPr/>
          </p:nvSpPr>
          <p:spPr>
            <a:xfrm>
              <a:off x="0" y="0"/>
              <a:ext cx="4238488" cy="1760835"/>
            </a:xfrm>
            <a:custGeom>
              <a:avLst/>
              <a:gdLst/>
              <a:ahLst/>
              <a:cxnLst/>
              <a:rect l="l" t="t" r="r" b="b"/>
              <a:pathLst>
                <a:path w="4238488" h="1760835">
                  <a:moveTo>
                    <a:pt x="23063" y="0"/>
                  </a:moveTo>
                  <a:lnTo>
                    <a:pt x="4215425" y="0"/>
                  </a:lnTo>
                  <a:cubicBezTo>
                    <a:pt x="4228162" y="0"/>
                    <a:pt x="4238488" y="10326"/>
                    <a:pt x="4238488" y="23063"/>
                  </a:cubicBezTo>
                  <a:lnTo>
                    <a:pt x="4238488" y="1737772"/>
                  </a:lnTo>
                  <a:cubicBezTo>
                    <a:pt x="4238488" y="1743888"/>
                    <a:pt x="4236058" y="1749754"/>
                    <a:pt x="4231733" y="1754080"/>
                  </a:cubicBezTo>
                  <a:cubicBezTo>
                    <a:pt x="4227408" y="1758405"/>
                    <a:pt x="4221542" y="1760835"/>
                    <a:pt x="4215425" y="1760835"/>
                  </a:cubicBezTo>
                  <a:lnTo>
                    <a:pt x="23063" y="1760835"/>
                  </a:lnTo>
                  <a:cubicBezTo>
                    <a:pt x="16946" y="1760835"/>
                    <a:pt x="11080" y="1758405"/>
                    <a:pt x="6755" y="1754080"/>
                  </a:cubicBezTo>
                  <a:cubicBezTo>
                    <a:pt x="2430" y="1749754"/>
                    <a:pt x="0" y="1743888"/>
                    <a:pt x="0" y="1737772"/>
                  </a:cubicBezTo>
                  <a:lnTo>
                    <a:pt x="0" y="23063"/>
                  </a:lnTo>
                  <a:cubicBezTo>
                    <a:pt x="0" y="16946"/>
                    <a:pt x="2430" y="11080"/>
                    <a:pt x="6755" y="6755"/>
                  </a:cubicBezTo>
                  <a:cubicBezTo>
                    <a:pt x="11080" y="2430"/>
                    <a:pt x="16946" y="0"/>
                    <a:pt x="23063"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4238488" cy="179893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2572428" y="6486800"/>
            <a:ext cx="5979811" cy="2771500"/>
          </a:xfrm>
          <a:custGeom>
            <a:avLst/>
            <a:gdLst/>
            <a:ahLst/>
            <a:cxnLst/>
            <a:rect l="l" t="t" r="r" b="b"/>
            <a:pathLst>
              <a:path w="5979811" h="2771500">
                <a:moveTo>
                  <a:pt x="0" y="0"/>
                </a:moveTo>
                <a:lnTo>
                  <a:pt x="5979811" y="0"/>
                </a:lnTo>
                <a:lnTo>
                  <a:pt x="5979811" y="2771500"/>
                </a:lnTo>
                <a:lnTo>
                  <a:pt x="0" y="2771500"/>
                </a:lnTo>
                <a:lnTo>
                  <a:pt x="0" y="0"/>
                </a:lnTo>
                <a:close/>
              </a:path>
            </a:pathLst>
          </a:custGeom>
          <a:blipFill>
            <a:blip r:embed="rId3"/>
            <a:stretch>
              <a:fillRect/>
            </a:stretch>
          </a:blipFill>
        </p:spPr>
        <p:txBody>
          <a:bodyPr/>
          <a:lstStyle/>
          <a:p>
            <a:endParaRPr lang="zh-TW" altLang="en-US"/>
          </a:p>
        </p:txBody>
      </p:sp>
      <p:sp>
        <p:nvSpPr>
          <p:cNvPr id="7" name="Freeform 7"/>
          <p:cNvSpPr/>
          <p:nvPr/>
        </p:nvSpPr>
        <p:spPr>
          <a:xfrm>
            <a:off x="10687389" y="6486800"/>
            <a:ext cx="5531280" cy="3111345"/>
          </a:xfrm>
          <a:custGeom>
            <a:avLst/>
            <a:gdLst/>
            <a:ahLst/>
            <a:cxnLst/>
            <a:rect l="l" t="t" r="r" b="b"/>
            <a:pathLst>
              <a:path w="5531280" h="3111345">
                <a:moveTo>
                  <a:pt x="0" y="0"/>
                </a:moveTo>
                <a:lnTo>
                  <a:pt x="5531280" y="0"/>
                </a:lnTo>
                <a:lnTo>
                  <a:pt x="5531280" y="3111345"/>
                </a:lnTo>
                <a:lnTo>
                  <a:pt x="0" y="3111345"/>
                </a:lnTo>
                <a:lnTo>
                  <a:pt x="0" y="0"/>
                </a:lnTo>
                <a:close/>
              </a:path>
            </a:pathLst>
          </a:custGeom>
          <a:blipFill>
            <a:blip r:embed="rId4"/>
            <a:stretch>
              <a:fillRect/>
            </a:stretch>
          </a:blipFill>
        </p:spPr>
        <p:txBody>
          <a:bodyPr/>
          <a:lstStyle/>
          <a:p>
            <a:endParaRPr lang="zh-TW" altLang="en-US"/>
          </a:p>
        </p:txBody>
      </p:sp>
      <p:sp>
        <p:nvSpPr>
          <p:cNvPr id="8" name="TextBox 8"/>
          <p:cNvSpPr txBox="1"/>
          <p:nvPr/>
        </p:nvSpPr>
        <p:spPr>
          <a:xfrm>
            <a:off x="2572428" y="857250"/>
            <a:ext cx="13143145" cy="1420496"/>
          </a:xfrm>
          <a:prstGeom prst="rect">
            <a:avLst/>
          </a:prstGeom>
        </p:spPr>
        <p:txBody>
          <a:bodyPr lIns="0" tIns="0" rIns="0" bIns="0" rtlCol="0" anchor="t">
            <a:spAutoFit/>
          </a:bodyPr>
          <a:lstStyle/>
          <a:p>
            <a:pPr algn="ctr">
              <a:lnSpc>
                <a:spcPts val="11479"/>
              </a:lnSpc>
            </a:pPr>
            <a:r>
              <a:rPr lang="en-US" sz="8199">
                <a:solidFill>
                  <a:srgbClr val="000000"/>
                </a:solidFill>
                <a:latin typeface="Bobby Jones"/>
                <a:ea typeface="Bobby Jones"/>
                <a:cs typeface="Bobby Jones"/>
                <a:sym typeface="Bobby Jones"/>
              </a:rPr>
              <a:t>Tensorrt &amp; tf-trt</a:t>
            </a:r>
          </a:p>
        </p:txBody>
      </p:sp>
      <p:sp>
        <p:nvSpPr>
          <p:cNvPr id="9" name="TextBox 9"/>
          <p:cNvSpPr txBox="1"/>
          <p:nvPr/>
        </p:nvSpPr>
        <p:spPr>
          <a:xfrm>
            <a:off x="514350" y="3367466"/>
            <a:ext cx="17259300" cy="2511885"/>
          </a:xfrm>
          <a:prstGeom prst="rect">
            <a:avLst/>
          </a:prstGeom>
        </p:spPr>
        <p:txBody>
          <a:bodyPr lIns="0" tIns="0" rIns="0" bIns="0" rtlCol="0" anchor="t">
            <a:spAutoFit/>
          </a:bodyPr>
          <a:lstStyle/>
          <a:p>
            <a:pPr marL="1561367" lvl="1" indent="-780683" algn="l">
              <a:lnSpc>
                <a:spcPts val="10124"/>
              </a:lnSpc>
              <a:buFont typeface="Arial"/>
              <a:buChar char="•"/>
            </a:pPr>
            <a:r>
              <a:rPr lang="en-US" sz="7231" b="1">
                <a:solidFill>
                  <a:srgbClr val="000000"/>
                </a:solidFill>
                <a:latin typeface="Alegreya Bold"/>
                <a:ea typeface="Alegreya Bold"/>
                <a:cs typeface="Alegreya Bold"/>
                <a:sym typeface="Alegreya Bold"/>
              </a:rPr>
              <a:t>Unable to transform onnx to engine</a:t>
            </a:r>
          </a:p>
          <a:p>
            <a:pPr marL="1561367" lvl="1" indent="-780683" algn="l">
              <a:lnSpc>
                <a:spcPts val="10124"/>
              </a:lnSpc>
              <a:buFont typeface="Arial"/>
              <a:buChar char="•"/>
            </a:pPr>
            <a:r>
              <a:rPr lang="en-US" sz="7231" b="1">
                <a:solidFill>
                  <a:srgbClr val="000000"/>
                </a:solidFill>
                <a:latin typeface="Alegreya Bold"/>
                <a:ea typeface="Alegreya Bold"/>
                <a:cs typeface="Alegreya Bold"/>
                <a:sym typeface="Alegreya Bold"/>
              </a:rPr>
              <a:t>Cannot convert subgraph to tensorRT </a:t>
            </a:r>
          </a:p>
        </p:txBody>
      </p:sp>
      <p:sp>
        <p:nvSpPr>
          <p:cNvPr id="10" name="TextBox 10"/>
          <p:cNvSpPr txBox="1"/>
          <p:nvPr/>
        </p:nvSpPr>
        <p:spPr>
          <a:xfrm>
            <a:off x="9463862" y="7201733"/>
            <a:ext cx="952839" cy="1510031"/>
          </a:xfrm>
          <a:prstGeom prst="rect">
            <a:avLst/>
          </a:prstGeom>
        </p:spPr>
        <p:txBody>
          <a:bodyPr lIns="0" tIns="0" rIns="0" bIns="0" rtlCol="0" anchor="t">
            <a:spAutoFit/>
          </a:bodyPr>
          <a:lstStyle/>
          <a:p>
            <a:pPr algn="l">
              <a:lnSpc>
                <a:spcPts val="12319"/>
              </a:lnSpc>
            </a:pPr>
            <a:r>
              <a:rPr lang="en-US" sz="8799" b="1">
                <a:solidFill>
                  <a:srgbClr val="000000"/>
                </a:solidFill>
                <a:latin typeface="Alegreya Bold"/>
                <a:ea typeface="Alegreya Bold"/>
                <a:cs typeface="Alegreya Bold"/>
                <a:sym typeface="Alegreya Bold"/>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0" t="-9510" r="-1696" b="-11203"/>
            </a:stretch>
          </a:blipFill>
        </p:spPr>
        <p:txBody>
          <a:bodyPr/>
          <a:lstStyle/>
          <a:p>
            <a:endParaRPr lang="zh-TW" altLang="en-US"/>
          </a:p>
        </p:txBody>
      </p:sp>
      <p:grpSp>
        <p:nvGrpSpPr>
          <p:cNvPr id="3" name="Group 3"/>
          <p:cNvGrpSpPr/>
          <p:nvPr/>
        </p:nvGrpSpPr>
        <p:grpSpPr>
          <a:xfrm>
            <a:off x="1028700" y="102870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38100" cap="rnd">
              <a:solidFill>
                <a:srgbClr val="000000"/>
              </a:solidFill>
              <a:prstDash val="lgDash"/>
              <a:round/>
            </a:ln>
          </p:spPr>
          <p:txBody>
            <a:bodyPr/>
            <a:lstStyle/>
            <a:p>
              <a:endParaRPr lang="zh-TW" altLang="en-US"/>
            </a:p>
          </p:txBody>
        </p:sp>
        <p:sp>
          <p:nvSpPr>
            <p:cNvPr id="5" name="TextBox 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2999308" y="6862055"/>
            <a:ext cx="4259992" cy="2396245"/>
          </a:xfrm>
          <a:custGeom>
            <a:avLst/>
            <a:gdLst/>
            <a:ahLst/>
            <a:cxnLst/>
            <a:rect l="l" t="t" r="r" b="b"/>
            <a:pathLst>
              <a:path w="4259992" h="2396245">
                <a:moveTo>
                  <a:pt x="0" y="0"/>
                </a:moveTo>
                <a:lnTo>
                  <a:pt x="4259992" y="0"/>
                </a:lnTo>
                <a:lnTo>
                  <a:pt x="4259992" y="2396245"/>
                </a:lnTo>
                <a:lnTo>
                  <a:pt x="0" y="2396245"/>
                </a:lnTo>
                <a:lnTo>
                  <a:pt x="0" y="0"/>
                </a:lnTo>
                <a:close/>
              </a:path>
            </a:pathLst>
          </a:custGeom>
          <a:blipFill>
            <a:blip r:embed="rId4"/>
            <a:stretch>
              <a:fillRect/>
            </a:stretch>
          </a:blipFill>
        </p:spPr>
        <p:txBody>
          <a:bodyPr/>
          <a:lstStyle/>
          <a:p>
            <a:endParaRPr lang="zh-TW" altLang="en-US"/>
          </a:p>
        </p:txBody>
      </p:sp>
      <p:sp>
        <p:nvSpPr>
          <p:cNvPr id="7" name="TextBox 7"/>
          <p:cNvSpPr txBox="1"/>
          <p:nvPr/>
        </p:nvSpPr>
        <p:spPr>
          <a:xfrm>
            <a:off x="1949127" y="3763254"/>
            <a:ext cx="14184220" cy="1571625"/>
          </a:xfrm>
          <a:prstGeom prst="rect">
            <a:avLst/>
          </a:prstGeom>
        </p:spPr>
        <p:txBody>
          <a:bodyPr lIns="0" tIns="0" rIns="0" bIns="0" rtlCol="0" anchor="t">
            <a:spAutoFit/>
          </a:bodyPr>
          <a:lstStyle/>
          <a:p>
            <a:pPr marL="971550" lvl="1" indent="-485775" algn="l">
              <a:lnSpc>
                <a:spcPts val="6299"/>
              </a:lnSpc>
              <a:buFont typeface="Arial"/>
              <a:buChar char="•"/>
            </a:pPr>
            <a:r>
              <a:rPr lang="en-US" sz="4500" b="1">
                <a:solidFill>
                  <a:srgbClr val="000000"/>
                </a:solidFill>
                <a:latin typeface="Alegreya Bold"/>
                <a:ea typeface="Alegreya Bold"/>
                <a:cs typeface="Alegreya Bold"/>
                <a:sym typeface="Alegreya Bold"/>
              </a:rPr>
              <a:t>FlatBuffer Format</a:t>
            </a:r>
          </a:p>
          <a:p>
            <a:pPr marL="971550" lvl="1" indent="-485775" algn="l">
              <a:lnSpc>
                <a:spcPts val="6299"/>
              </a:lnSpc>
              <a:buFont typeface="Arial"/>
              <a:buChar char="•"/>
            </a:pPr>
            <a:r>
              <a:rPr lang="en-US" sz="4500" b="1">
                <a:solidFill>
                  <a:srgbClr val="000000"/>
                </a:solidFill>
                <a:latin typeface="Alegreya Bold"/>
                <a:ea typeface="Alegreya Bold"/>
                <a:cs typeface="Alegreya Bold"/>
                <a:sym typeface="Alegreya Bold"/>
              </a:rPr>
              <a:t>Smaller Quantized Models</a:t>
            </a:r>
          </a:p>
        </p:txBody>
      </p:sp>
      <p:sp>
        <p:nvSpPr>
          <p:cNvPr id="8" name="TextBox 8"/>
          <p:cNvSpPr txBox="1"/>
          <p:nvPr/>
        </p:nvSpPr>
        <p:spPr>
          <a:xfrm>
            <a:off x="1028700" y="2708661"/>
            <a:ext cx="16230600" cy="955675"/>
          </a:xfrm>
          <a:prstGeom prst="rect">
            <a:avLst/>
          </a:prstGeom>
        </p:spPr>
        <p:txBody>
          <a:bodyPr lIns="0" tIns="0" rIns="0" bIns="0" rtlCol="0" anchor="t">
            <a:spAutoFit/>
          </a:bodyPr>
          <a:lstStyle/>
          <a:p>
            <a:pPr algn="ctr">
              <a:lnSpc>
                <a:spcPts val="7699"/>
              </a:lnSpc>
            </a:pPr>
            <a:r>
              <a:rPr lang="en-US" sz="5499">
                <a:solidFill>
                  <a:srgbClr val="000000"/>
                </a:solidFill>
                <a:latin typeface="Bobby Jones"/>
                <a:ea typeface="Bobby Jones"/>
                <a:cs typeface="Bobby Jones"/>
                <a:sym typeface="Bobby Jones"/>
              </a:rPr>
              <a:t>Faster Program Startup Time</a:t>
            </a:r>
          </a:p>
        </p:txBody>
      </p:sp>
      <p:sp>
        <p:nvSpPr>
          <p:cNvPr id="9" name="TextBox 9"/>
          <p:cNvSpPr txBox="1"/>
          <p:nvPr/>
        </p:nvSpPr>
        <p:spPr>
          <a:xfrm>
            <a:off x="1028700" y="5906379"/>
            <a:ext cx="16230600" cy="955675"/>
          </a:xfrm>
          <a:prstGeom prst="rect">
            <a:avLst/>
          </a:prstGeom>
        </p:spPr>
        <p:txBody>
          <a:bodyPr lIns="0" tIns="0" rIns="0" bIns="0" rtlCol="0" anchor="t">
            <a:spAutoFit/>
          </a:bodyPr>
          <a:lstStyle/>
          <a:p>
            <a:pPr algn="ctr">
              <a:lnSpc>
                <a:spcPts val="7699"/>
              </a:lnSpc>
            </a:pPr>
            <a:r>
              <a:rPr lang="en-US" sz="5499">
                <a:solidFill>
                  <a:srgbClr val="000000"/>
                </a:solidFill>
                <a:latin typeface="Bobby Jones"/>
                <a:ea typeface="Bobby Jones"/>
                <a:cs typeface="Bobby Jones"/>
                <a:sym typeface="Bobby Jones"/>
              </a:rPr>
              <a:t>Decreased FPS Due to Increased Latency</a:t>
            </a:r>
          </a:p>
        </p:txBody>
      </p:sp>
      <p:sp>
        <p:nvSpPr>
          <p:cNvPr id="10" name="TextBox 10"/>
          <p:cNvSpPr txBox="1"/>
          <p:nvPr/>
        </p:nvSpPr>
        <p:spPr>
          <a:xfrm>
            <a:off x="3679044" y="1232268"/>
            <a:ext cx="10929913" cy="1419243"/>
          </a:xfrm>
          <a:prstGeom prst="rect">
            <a:avLst/>
          </a:prstGeom>
        </p:spPr>
        <p:txBody>
          <a:bodyPr lIns="0" tIns="0" rIns="0" bIns="0" rtlCol="0" anchor="t">
            <a:spAutoFit/>
          </a:bodyPr>
          <a:lstStyle/>
          <a:p>
            <a:pPr algn="ctr">
              <a:lnSpc>
                <a:spcPts val="11432"/>
              </a:lnSpc>
            </a:pPr>
            <a:r>
              <a:rPr lang="en-US" sz="8165">
                <a:solidFill>
                  <a:srgbClr val="000000"/>
                </a:solidFill>
                <a:latin typeface="Bobby Jones"/>
                <a:ea typeface="Bobby Jones"/>
                <a:cs typeface="Bobby Jones"/>
                <a:sym typeface="Bobby Jones"/>
              </a:rPr>
              <a:t>TFlite</a:t>
            </a:r>
          </a:p>
        </p:txBody>
      </p:sp>
      <p:sp>
        <p:nvSpPr>
          <p:cNvPr id="11" name="TextBox 11"/>
          <p:cNvSpPr txBox="1"/>
          <p:nvPr/>
        </p:nvSpPr>
        <p:spPr>
          <a:xfrm>
            <a:off x="2051890" y="6957305"/>
            <a:ext cx="14184220" cy="1571625"/>
          </a:xfrm>
          <a:prstGeom prst="rect">
            <a:avLst/>
          </a:prstGeom>
        </p:spPr>
        <p:txBody>
          <a:bodyPr lIns="0" tIns="0" rIns="0" bIns="0" rtlCol="0" anchor="t">
            <a:spAutoFit/>
          </a:bodyPr>
          <a:lstStyle/>
          <a:p>
            <a:pPr marL="971550" lvl="1" indent="-485775" algn="l">
              <a:lnSpc>
                <a:spcPts val="6299"/>
              </a:lnSpc>
              <a:buFont typeface="Arial"/>
              <a:buChar char="•"/>
            </a:pPr>
            <a:r>
              <a:rPr lang="en-US" sz="4500" b="1">
                <a:solidFill>
                  <a:srgbClr val="000000"/>
                </a:solidFill>
                <a:latin typeface="Alegreya Bold"/>
                <a:ea typeface="Alegreya Bold"/>
                <a:cs typeface="Alegreya Bold"/>
                <a:sym typeface="Alegreya Bold"/>
              </a:rPr>
              <a:t>GPU delegate</a:t>
            </a:r>
          </a:p>
          <a:p>
            <a:pPr marL="971550" lvl="1" indent="-485775" algn="l">
              <a:lnSpc>
                <a:spcPts val="6299"/>
              </a:lnSpc>
              <a:buFont typeface="Arial"/>
              <a:buChar char="•"/>
            </a:pPr>
            <a:r>
              <a:rPr lang="en-US" sz="4500" b="1">
                <a:solidFill>
                  <a:srgbClr val="FF3131"/>
                </a:solidFill>
                <a:latin typeface="Alegreya Bold"/>
                <a:ea typeface="Alegreya Bold"/>
                <a:cs typeface="Alegreya Bold"/>
                <a:sym typeface="Alegreya Bold"/>
              </a:rPr>
              <a:t>CPU side (Multithreading)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2691138" y="3358912"/>
            <a:ext cx="12905724" cy="1662135"/>
          </a:xfrm>
          <a:prstGeom prst="rect">
            <a:avLst/>
          </a:prstGeom>
        </p:spPr>
        <p:txBody>
          <a:bodyPr lIns="0" tIns="0" rIns="0" bIns="0" rtlCol="0" anchor="t">
            <a:spAutoFit/>
          </a:bodyPr>
          <a:lstStyle/>
          <a:p>
            <a:pPr algn="ctr">
              <a:lnSpc>
                <a:spcPts val="13498"/>
              </a:lnSpc>
            </a:pPr>
            <a:r>
              <a:rPr lang="en-US" sz="9641">
                <a:solidFill>
                  <a:srgbClr val="000000"/>
                </a:solidFill>
                <a:latin typeface="Bobby Jones"/>
                <a:ea typeface="Bobby Jones"/>
                <a:cs typeface="Bobby Jones"/>
                <a:sym typeface="Bobby Jones"/>
              </a:rPr>
              <a:t>project demo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 t="-9510" r="-1696" b="-11203"/>
            </a:stretch>
          </a:blipFill>
        </p:spPr>
        <p:txBody>
          <a:bodyPr/>
          <a:lstStyle/>
          <a:p>
            <a:endParaRPr lang="zh-TW" altLang="en-US"/>
          </a:p>
        </p:txBody>
      </p:sp>
      <p:sp>
        <p:nvSpPr>
          <p:cNvPr id="3" name="TextBox 3"/>
          <p:cNvSpPr txBox="1"/>
          <p:nvPr/>
        </p:nvSpPr>
        <p:spPr>
          <a:xfrm>
            <a:off x="2616729" y="3509275"/>
            <a:ext cx="13054542" cy="2906500"/>
          </a:xfrm>
          <a:prstGeom prst="rect">
            <a:avLst/>
          </a:prstGeom>
        </p:spPr>
        <p:txBody>
          <a:bodyPr lIns="0" tIns="0" rIns="0" bIns="0" rtlCol="0" anchor="t">
            <a:spAutoFit/>
          </a:bodyPr>
          <a:lstStyle/>
          <a:p>
            <a:pPr algn="ctr">
              <a:lnSpc>
                <a:spcPts val="23410"/>
              </a:lnSpc>
            </a:pPr>
            <a:r>
              <a:rPr lang="en-US" sz="16721">
                <a:solidFill>
                  <a:srgbClr val="000000"/>
                </a:solidFill>
                <a:latin typeface="Bobby Jones"/>
                <a:ea typeface="Bobby Jones"/>
                <a:cs typeface="Bobby Jones"/>
                <a:sym typeface="Bobby Jone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614</Words>
  <Application>Microsoft Office PowerPoint</Application>
  <PresentationFormat>自訂</PresentationFormat>
  <Paragraphs>144</Paragraphs>
  <Slides>19</Slides>
  <Notes>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19</vt:i4>
      </vt:variant>
    </vt:vector>
  </HeadingPairs>
  <TitlesOfParts>
    <vt:vector size="25" baseType="lpstr">
      <vt:lpstr>Alegreya Bold Italics</vt:lpstr>
      <vt:lpstr>Arial</vt:lpstr>
      <vt:lpstr>Alegreya Bold</vt:lpstr>
      <vt:lpstr>Calibri</vt:lpstr>
      <vt:lpstr>Bobby Jones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數位訊號專案二</dc:title>
  <cp:lastModifiedBy>楊宗霖 YANG TSUNG-LIN</cp:lastModifiedBy>
  <cp:revision>2</cp:revision>
  <dcterms:created xsi:type="dcterms:W3CDTF">2006-08-16T00:00:00Z</dcterms:created>
  <dcterms:modified xsi:type="dcterms:W3CDTF">2025-07-14T08:36:37Z</dcterms:modified>
  <dc:identifier>DAGmKxHrx1Q</dc:identifier>
</cp:coreProperties>
</file>